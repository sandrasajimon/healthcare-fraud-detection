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57" r:id="rId4"/>
    <p:sldId id="265" r:id="rId5"/>
    <p:sldId id="262" r:id="rId6"/>
    <p:sldId id="260" r:id="rId7"/>
    <p:sldId id="258" r:id="rId8"/>
    <p:sldId id="271" r:id="rId9"/>
    <p:sldId id="270" r:id="rId10"/>
    <p:sldId id="267" r:id="rId11"/>
    <p:sldId id="268" r:id="rId12"/>
    <p:sldId id="259" r:id="rId13"/>
    <p:sldId id="261" r:id="rId14"/>
    <p:sldId id="269" r:id="rId15"/>
  </p:sldIdLst>
  <p:sldSz cx="18288000" cy="10287000"/>
  <p:notesSz cx="6858000" cy="9144000"/>
  <p:embeddedFontLst>
    <p:embeddedFont>
      <p:font typeface="Aileron Bold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Bold" panose="00000800000000000000" charset="0"/>
      <p:regular r:id="rId21"/>
    </p:embeddedFont>
    <p:embeddedFont>
      <p:font typeface="Poppins Medium" panose="00000600000000000000" pitchFamily="2" charset="0"/>
      <p:regular r:id="rId22"/>
      <p:italic r:id="rId23"/>
    </p:embeddedFont>
    <p:embeddedFont>
      <p:font typeface="Poppins Semi-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1D6E5B-A868-48F6-AF20-16E35D75EBE5}" v="3" dt="2025-04-08T19:35:08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29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C39E7C-F5F6-4E70-9434-6CDA768E4D5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675C79-34D9-444D-9623-C153693527AA}">
      <dgm:prSet/>
      <dgm:spPr/>
      <dgm:t>
        <a:bodyPr/>
        <a:lstStyle/>
        <a:p>
          <a:r>
            <a:rPr lang="en-US" b="1"/>
            <a:t>Search by NPI or name (e.g., Semonche, Amanda).</a:t>
          </a:r>
          <a:endParaRPr lang="en-US"/>
        </a:p>
      </dgm:t>
    </dgm:pt>
    <dgm:pt modelId="{7F904FF4-6105-4E7F-BEF5-CA161705BE26}" type="parTrans" cxnId="{DC1C6CE2-B120-4561-8745-844CE8A087E6}">
      <dgm:prSet/>
      <dgm:spPr/>
      <dgm:t>
        <a:bodyPr/>
        <a:lstStyle/>
        <a:p>
          <a:endParaRPr lang="en-US"/>
        </a:p>
      </dgm:t>
    </dgm:pt>
    <dgm:pt modelId="{45A71D28-BC9D-4753-B5E5-A2FE93BC99AE}" type="sibTrans" cxnId="{DC1C6CE2-B120-4561-8745-844CE8A087E6}">
      <dgm:prSet/>
      <dgm:spPr/>
      <dgm:t>
        <a:bodyPr/>
        <a:lstStyle/>
        <a:p>
          <a:endParaRPr lang="en-US"/>
        </a:p>
      </dgm:t>
    </dgm:pt>
    <dgm:pt modelId="{205E7E98-A57D-493C-8D94-E4FE4656AC4C}">
      <dgm:prSet/>
      <dgm:spPr/>
      <dgm:t>
        <a:bodyPr/>
        <a:lstStyle/>
        <a:p>
          <a:r>
            <a:rPr lang="en-US" b="1"/>
            <a:t>Flexible name matching using normalization (e.g., handles “Last, First” format, removes titles like “Dr.”)</a:t>
          </a:r>
          <a:endParaRPr lang="en-US"/>
        </a:p>
      </dgm:t>
    </dgm:pt>
    <dgm:pt modelId="{FBFCEF97-73C9-4F4B-8306-57FC503655D1}" type="parTrans" cxnId="{7B4CCE63-6A16-4521-9EF3-31BFC660F5D3}">
      <dgm:prSet/>
      <dgm:spPr/>
      <dgm:t>
        <a:bodyPr/>
        <a:lstStyle/>
        <a:p>
          <a:endParaRPr lang="en-US"/>
        </a:p>
      </dgm:t>
    </dgm:pt>
    <dgm:pt modelId="{1F722210-63C3-4BBD-8774-EDB6C3DB9BDC}" type="sibTrans" cxnId="{7B4CCE63-6A16-4521-9EF3-31BFC660F5D3}">
      <dgm:prSet/>
      <dgm:spPr/>
      <dgm:t>
        <a:bodyPr/>
        <a:lstStyle/>
        <a:p>
          <a:endParaRPr lang="en-US"/>
        </a:p>
      </dgm:t>
    </dgm:pt>
    <dgm:pt modelId="{EFDC2241-09E5-4506-BAEE-F6A096EBEB88}">
      <dgm:prSet/>
      <dgm:spPr/>
      <dgm:t>
        <a:bodyPr/>
        <a:lstStyle/>
        <a:p>
          <a:r>
            <a:rPr lang="en-US" b="1"/>
            <a:t>State filter (multiselect).Fraud probability range slider.</a:t>
          </a:r>
          <a:endParaRPr lang="en-US"/>
        </a:p>
      </dgm:t>
    </dgm:pt>
    <dgm:pt modelId="{50CC6C53-D5B5-42D3-B30E-6DB2B81F40DF}" type="parTrans" cxnId="{9920A5CD-A2BE-4285-B7B2-FBA58C90ADBC}">
      <dgm:prSet/>
      <dgm:spPr/>
      <dgm:t>
        <a:bodyPr/>
        <a:lstStyle/>
        <a:p>
          <a:endParaRPr lang="en-US"/>
        </a:p>
      </dgm:t>
    </dgm:pt>
    <dgm:pt modelId="{7EF7FF32-7F63-4E06-948E-3BBFA460D84F}" type="sibTrans" cxnId="{9920A5CD-A2BE-4285-B7B2-FBA58C90ADBC}">
      <dgm:prSet/>
      <dgm:spPr/>
      <dgm:t>
        <a:bodyPr/>
        <a:lstStyle/>
        <a:p>
          <a:endParaRPr lang="en-US"/>
        </a:p>
      </dgm:t>
    </dgm:pt>
    <dgm:pt modelId="{5349C0AA-B97E-44A4-94CF-71086E68D348}">
      <dgm:prSet/>
      <dgm:spPr/>
      <dgm:t>
        <a:bodyPr/>
        <a:lstStyle/>
        <a:p>
          <a:r>
            <a:rPr lang="en-US" b="1"/>
            <a:t>User Experience : Clear button to reset search input.</a:t>
          </a:r>
          <a:endParaRPr lang="en-US"/>
        </a:p>
      </dgm:t>
    </dgm:pt>
    <dgm:pt modelId="{F853B623-9970-49AA-BD40-79A707730DE2}" type="parTrans" cxnId="{CB7C8B7D-2B32-4BE6-8FCE-000082EF0042}">
      <dgm:prSet/>
      <dgm:spPr/>
      <dgm:t>
        <a:bodyPr/>
        <a:lstStyle/>
        <a:p>
          <a:endParaRPr lang="en-US"/>
        </a:p>
      </dgm:t>
    </dgm:pt>
    <dgm:pt modelId="{A8C847F8-9CCD-4753-9F9A-24A31FABA4DB}" type="sibTrans" cxnId="{CB7C8B7D-2B32-4BE6-8FCE-000082EF0042}">
      <dgm:prSet/>
      <dgm:spPr/>
      <dgm:t>
        <a:bodyPr/>
        <a:lstStyle/>
        <a:p>
          <a:endParaRPr lang="en-US"/>
        </a:p>
      </dgm:t>
    </dgm:pt>
    <dgm:pt modelId="{3F82FB15-740E-49D4-B20A-CFCEEABA2943}">
      <dgm:prSet/>
      <dgm:spPr/>
      <dgm:t>
        <a:bodyPr/>
        <a:lstStyle/>
        <a:p>
          <a:r>
            <a:rPr lang="en-US" b="1"/>
            <a:t>Spinner during analysis for better UX.</a:t>
          </a:r>
          <a:endParaRPr lang="en-US"/>
        </a:p>
      </dgm:t>
    </dgm:pt>
    <dgm:pt modelId="{C320893D-FC0E-473C-8544-99594BBE7724}" type="parTrans" cxnId="{F2DDEF9D-A3CE-4A76-8496-21AB746D5DE9}">
      <dgm:prSet/>
      <dgm:spPr/>
      <dgm:t>
        <a:bodyPr/>
        <a:lstStyle/>
        <a:p>
          <a:endParaRPr lang="en-US"/>
        </a:p>
      </dgm:t>
    </dgm:pt>
    <dgm:pt modelId="{15C7C25C-A521-4EC5-B29D-E402D9B2A10A}" type="sibTrans" cxnId="{F2DDEF9D-A3CE-4A76-8496-21AB746D5DE9}">
      <dgm:prSet/>
      <dgm:spPr/>
      <dgm:t>
        <a:bodyPr/>
        <a:lstStyle/>
        <a:p>
          <a:endParaRPr lang="en-US"/>
        </a:p>
      </dgm:t>
    </dgm:pt>
    <dgm:pt modelId="{77095C9A-5BB2-4996-8B83-F3151815C56E}" type="pres">
      <dgm:prSet presAssocID="{A0C39E7C-F5F6-4E70-9434-6CDA768E4D56}" presName="vert0" presStyleCnt="0">
        <dgm:presLayoutVars>
          <dgm:dir/>
          <dgm:animOne val="branch"/>
          <dgm:animLvl val="lvl"/>
        </dgm:presLayoutVars>
      </dgm:prSet>
      <dgm:spPr/>
    </dgm:pt>
    <dgm:pt modelId="{2CD210BC-58BA-4030-82CB-45A3722CB658}" type="pres">
      <dgm:prSet presAssocID="{70675C79-34D9-444D-9623-C153693527AA}" presName="thickLine" presStyleLbl="alignNode1" presStyleIdx="0" presStyleCnt="5"/>
      <dgm:spPr/>
    </dgm:pt>
    <dgm:pt modelId="{31D348DE-8AAF-4CF2-BAA4-A1A76E2570C7}" type="pres">
      <dgm:prSet presAssocID="{70675C79-34D9-444D-9623-C153693527AA}" presName="horz1" presStyleCnt="0"/>
      <dgm:spPr/>
    </dgm:pt>
    <dgm:pt modelId="{47EE9E3D-91D7-4F20-ABCF-08935694299A}" type="pres">
      <dgm:prSet presAssocID="{70675C79-34D9-444D-9623-C153693527AA}" presName="tx1" presStyleLbl="revTx" presStyleIdx="0" presStyleCnt="5"/>
      <dgm:spPr/>
    </dgm:pt>
    <dgm:pt modelId="{94F2A781-93D2-4CD3-A0C0-F27B337F0628}" type="pres">
      <dgm:prSet presAssocID="{70675C79-34D9-444D-9623-C153693527AA}" presName="vert1" presStyleCnt="0"/>
      <dgm:spPr/>
    </dgm:pt>
    <dgm:pt modelId="{281BABAD-03E0-4357-A55E-9DB9BD906B5D}" type="pres">
      <dgm:prSet presAssocID="{205E7E98-A57D-493C-8D94-E4FE4656AC4C}" presName="thickLine" presStyleLbl="alignNode1" presStyleIdx="1" presStyleCnt="5"/>
      <dgm:spPr/>
    </dgm:pt>
    <dgm:pt modelId="{7042AA4D-8D62-4D57-8E0A-0D0A709437CF}" type="pres">
      <dgm:prSet presAssocID="{205E7E98-A57D-493C-8D94-E4FE4656AC4C}" presName="horz1" presStyleCnt="0"/>
      <dgm:spPr/>
    </dgm:pt>
    <dgm:pt modelId="{06E5EC58-CE89-4EE1-9A4F-A04617AF57AB}" type="pres">
      <dgm:prSet presAssocID="{205E7E98-A57D-493C-8D94-E4FE4656AC4C}" presName="tx1" presStyleLbl="revTx" presStyleIdx="1" presStyleCnt="5"/>
      <dgm:spPr/>
    </dgm:pt>
    <dgm:pt modelId="{256083E3-7F43-47F8-AA6C-A52FE9AFEAEE}" type="pres">
      <dgm:prSet presAssocID="{205E7E98-A57D-493C-8D94-E4FE4656AC4C}" presName="vert1" presStyleCnt="0"/>
      <dgm:spPr/>
    </dgm:pt>
    <dgm:pt modelId="{CF229757-63FD-42EB-A5D3-DC6537C31F2C}" type="pres">
      <dgm:prSet presAssocID="{EFDC2241-09E5-4506-BAEE-F6A096EBEB88}" presName="thickLine" presStyleLbl="alignNode1" presStyleIdx="2" presStyleCnt="5"/>
      <dgm:spPr/>
    </dgm:pt>
    <dgm:pt modelId="{5791D810-08C7-4622-88E7-E459ED575417}" type="pres">
      <dgm:prSet presAssocID="{EFDC2241-09E5-4506-BAEE-F6A096EBEB88}" presName="horz1" presStyleCnt="0"/>
      <dgm:spPr/>
    </dgm:pt>
    <dgm:pt modelId="{BFE2C0F6-58F1-4380-A72D-851C289839D3}" type="pres">
      <dgm:prSet presAssocID="{EFDC2241-09E5-4506-BAEE-F6A096EBEB88}" presName="tx1" presStyleLbl="revTx" presStyleIdx="2" presStyleCnt="5"/>
      <dgm:spPr/>
    </dgm:pt>
    <dgm:pt modelId="{45249903-CFCF-45EC-9CF0-0615D09600FE}" type="pres">
      <dgm:prSet presAssocID="{EFDC2241-09E5-4506-BAEE-F6A096EBEB88}" presName="vert1" presStyleCnt="0"/>
      <dgm:spPr/>
    </dgm:pt>
    <dgm:pt modelId="{FCA7D76F-09E5-40E2-BF10-6EBABE89F5B1}" type="pres">
      <dgm:prSet presAssocID="{5349C0AA-B97E-44A4-94CF-71086E68D348}" presName="thickLine" presStyleLbl="alignNode1" presStyleIdx="3" presStyleCnt="5"/>
      <dgm:spPr/>
    </dgm:pt>
    <dgm:pt modelId="{CE2D0724-21E2-44AA-901D-27392060F5EA}" type="pres">
      <dgm:prSet presAssocID="{5349C0AA-B97E-44A4-94CF-71086E68D348}" presName="horz1" presStyleCnt="0"/>
      <dgm:spPr/>
    </dgm:pt>
    <dgm:pt modelId="{29B5BDD7-011E-40C8-A1A3-6F9F249AC989}" type="pres">
      <dgm:prSet presAssocID="{5349C0AA-B97E-44A4-94CF-71086E68D348}" presName="tx1" presStyleLbl="revTx" presStyleIdx="3" presStyleCnt="5"/>
      <dgm:spPr/>
    </dgm:pt>
    <dgm:pt modelId="{9251572B-BBEA-46B1-85FA-F62BF7E21D9A}" type="pres">
      <dgm:prSet presAssocID="{5349C0AA-B97E-44A4-94CF-71086E68D348}" presName="vert1" presStyleCnt="0"/>
      <dgm:spPr/>
    </dgm:pt>
    <dgm:pt modelId="{585C4049-BF0F-4CDE-A279-1C1C0D88682F}" type="pres">
      <dgm:prSet presAssocID="{3F82FB15-740E-49D4-B20A-CFCEEABA2943}" presName="thickLine" presStyleLbl="alignNode1" presStyleIdx="4" presStyleCnt="5"/>
      <dgm:spPr/>
    </dgm:pt>
    <dgm:pt modelId="{357DEC9D-7395-463F-8B8E-609DEEDE4120}" type="pres">
      <dgm:prSet presAssocID="{3F82FB15-740E-49D4-B20A-CFCEEABA2943}" presName="horz1" presStyleCnt="0"/>
      <dgm:spPr/>
    </dgm:pt>
    <dgm:pt modelId="{24F1EF31-4FA4-4193-A1E3-D476E7AFA29C}" type="pres">
      <dgm:prSet presAssocID="{3F82FB15-740E-49D4-B20A-CFCEEABA2943}" presName="tx1" presStyleLbl="revTx" presStyleIdx="4" presStyleCnt="5"/>
      <dgm:spPr/>
    </dgm:pt>
    <dgm:pt modelId="{B21928BA-88A5-4102-8DFE-58B4722A439B}" type="pres">
      <dgm:prSet presAssocID="{3F82FB15-740E-49D4-B20A-CFCEEABA2943}" presName="vert1" presStyleCnt="0"/>
      <dgm:spPr/>
    </dgm:pt>
  </dgm:ptLst>
  <dgm:cxnLst>
    <dgm:cxn modelId="{9F64B962-5886-43CA-A254-474699FF9800}" type="presOf" srcId="{5349C0AA-B97E-44A4-94CF-71086E68D348}" destId="{29B5BDD7-011E-40C8-A1A3-6F9F249AC989}" srcOrd="0" destOrd="0" presId="urn:microsoft.com/office/officeart/2008/layout/LinedList"/>
    <dgm:cxn modelId="{7B4CCE63-6A16-4521-9EF3-31BFC660F5D3}" srcId="{A0C39E7C-F5F6-4E70-9434-6CDA768E4D56}" destId="{205E7E98-A57D-493C-8D94-E4FE4656AC4C}" srcOrd="1" destOrd="0" parTransId="{FBFCEF97-73C9-4F4B-8306-57FC503655D1}" sibTransId="{1F722210-63C3-4BBD-8774-EDB6C3DB9BDC}"/>
    <dgm:cxn modelId="{4C9AE44A-F8E0-4DBC-A534-C77A2EFAC780}" type="presOf" srcId="{EFDC2241-09E5-4506-BAEE-F6A096EBEB88}" destId="{BFE2C0F6-58F1-4380-A72D-851C289839D3}" srcOrd="0" destOrd="0" presId="urn:microsoft.com/office/officeart/2008/layout/LinedList"/>
    <dgm:cxn modelId="{CB7C8B7D-2B32-4BE6-8FCE-000082EF0042}" srcId="{A0C39E7C-F5F6-4E70-9434-6CDA768E4D56}" destId="{5349C0AA-B97E-44A4-94CF-71086E68D348}" srcOrd="3" destOrd="0" parTransId="{F853B623-9970-49AA-BD40-79A707730DE2}" sibTransId="{A8C847F8-9CCD-4753-9F9A-24A31FABA4DB}"/>
    <dgm:cxn modelId="{6C88F298-7F6D-44C2-8E49-3CD7759824FF}" type="presOf" srcId="{205E7E98-A57D-493C-8D94-E4FE4656AC4C}" destId="{06E5EC58-CE89-4EE1-9A4F-A04617AF57AB}" srcOrd="0" destOrd="0" presId="urn:microsoft.com/office/officeart/2008/layout/LinedList"/>
    <dgm:cxn modelId="{F2DDEF9D-A3CE-4A76-8496-21AB746D5DE9}" srcId="{A0C39E7C-F5F6-4E70-9434-6CDA768E4D56}" destId="{3F82FB15-740E-49D4-B20A-CFCEEABA2943}" srcOrd="4" destOrd="0" parTransId="{C320893D-FC0E-473C-8544-99594BBE7724}" sibTransId="{15C7C25C-A521-4EC5-B29D-E402D9B2A10A}"/>
    <dgm:cxn modelId="{9920A5CD-A2BE-4285-B7B2-FBA58C90ADBC}" srcId="{A0C39E7C-F5F6-4E70-9434-6CDA768E4D56}" destId="{EFDC2241-09E5-4506-BAEE-F6A096EBEB88}" srcOrd="2" destOrd="0" parTransId="{50CC6C53-D5B5-42D3-B30E-6DB2B81F40DF}" sibTransId="{7EF7FF32-7F63-4E06-948E-3BBFA460D84F}"/>
    <dgm:cxn modelId="{8AD55FD0-825D-4066-BB03-D49F3C2F0182}" type="presOf" srcId="{A0C39E7C-F5F6-4E70-9434-6CDA768E4D56}" destId="{77095C9A-5BB2-4996-8B83-F3151815C56E}" srcOrd="0" destOrd="0" presId="urn:microsoft.com/office/officeart/2008/layout/LinedList"/>
    <dgm:cxn modelId="{DC1C6CE2-B120-4561-8745-844CE8A087E6}" srcId="{A0C39E7C-F5F6-4E70-9434-6CDA768E4D56}" destId="{70675C79-34D9-444D-9623-C153693527AA}" srcOrd="0" destOrd="0" parTransId="{7F904FF4-6105-4E7F-BEF5-CA161705BE26}" sibTransId="{45A71D28-BC9D-4753-B5E5-A2FE93BC99AE}"/>
    <dgm:cxn modelId="{B47A90EB-FA9B-4BCF-B909-8B002DAA566C}" type="presOf" srcId="{3F82FB15-740E-49D4-B20A-CFCEEABA2943}" destId="{24F1EF31-4FA4-4193-A1E3-D476E7AFA29C}" srcOrd="0" destOrd="0" presId="urn:microsoft.com/office/officeart/2008/layout/LinedList"/>
    <dgm:cxn modelId="{C29261F6-BF25-4FC6-B29F-4F9EB0B786A1}" type="presOf" srcId="{70675C79-34D9-444D-9623-C153693527AA}" destId="{47EE9E3D-91D7-4F20-ABCF-08935694299A}" srcOrd="0" destOrd="0" presId="urn:microsoft.com/office/officeart/2008/layout/LinedList"/>
    <dgm:cxn modelId="{D6F9C70D-02F9-4475-8A49-0B933D651DA0}" type="presParOf" srcId="{77095C9A-5BB2-4996-8B83-F3151815C56E}" destId="{2CD210BC-58BA-4030-82CB-45A3722CB658}" srcOrd="0" destOrd="0" presId="urn:microsoft.com/office/officeart/2008/layout/LinedList"/>
    <dgm:cxn modelId="{617B2636-0DD9-4188-85AD-7C4FBE5BB59C}" type="presParOf" srcId="{77095C9A-5BB2-4996-8B83-F3151815C56E}" destId="{31D348DE-8AAF-4CF2-BAA4-A1A76E2570C7}" srcOrd="1" destOrd="0" presId="urn:microsoft.com/office/officeart/2008/layout/LinedList"/>
    <dgm:cxn modelId="{B54B7371-36DB-4C95-B133-153DDB5726E2}" type="presParOf" srcId="{31D348DE-8AAF-4CF2-BAA4-A1A76E2570C7}" destId="{47EE9E3D-91D7-4F20-ABCF-08935694299A}" srcOrd="0" destOrd="0" presId="urn:microsoft.com/office/officeart/2008/layout/LinedList"/>
    <dgm:cxn modelId="{160EB263-AD43-4CF3-81A7-40FD3190C41F}" type="presParOf" srcId="{31D348DE-8AAF-4CF2-BAA4-A1A76E2570C7}" destId="{94F2A781-93D2-4CD3-A0C0-F27B337F0628}" srcOrd="1" destOrd="0" presId="urn:microsoft.com/office/officeart/2008/layout/LinedList"/>
    <dgm:cxn modelId="{716FC00E-8FEC-4C34-86B9-4469A7738A84}" type="presParOf" srcId="{77095C9A-5BB2-4996-8B83-F3151815C56E}" destId="{281BABAD-03E0-4357-A55E-9DB9BD906B5D}" srcOrd="2" destOrd="0" presId="urn:microsoft.com/office/officeart/2008/layout/LinedList"/>
    <dgm:cxn modelId="{7EE58EF1-3687-42F0-992A-3C331E8265CB}" type="presParOf" srcId="{77095C9A-5BB2-4996-8B83-F3151815C56E}" destId="{7042AA4D-8D62-4D57-8E0A-0D0A709437CF}" srcOrd="3" destOrd="0" presId="urn:microsoft.com/office/officeart/2008/layout/LinedList"/>
    <dgm:cxn modelId="{AC96F2D1-740C-4BCA-8969-87C6E84C23E1}" type="presParOf" srcId="{7042AA4D-8D62-4D57-8E0A-0D0A709437CF}" destId="{06E5EC58-CE89-4EE1-9A4F-A04617AF57AB}" srcOrd="0" destOrd="0" presId="urn:microsoft.com/office/officeart/2008/layout/LinedList"/>
    <dgm:cxn modelId="{90AA13DD-256F-4374-B8AD-FD15283BF3B9}" type="presParOf" srcId="{7042AA4D-8D62-4D57-8E0A-0D0A709437CF}" destId="{256083E3-7F43-47F8-AA6C-A52FE9AFEAEE}" srcOrd="1" destOrd="0" presId="urn:microsoft.com/office/officeart/2008/layout/LinedList"/>
    <dgm:cxn modelId="{BCDCBFBD-404B-41BE-967F-26BA094F5CFE}" type="presParOf" srcId="{77095C9A-5BB2-4996-8B83-F3151815C56E}" destId="{CF229757-63FD-42EB-A5D3-DC6537C31F2C}" srcOrd="4" destOrd="0" presId="urn:microsoft.com/office/officeart/2008/layout/LinedList"/>
    <dgm:cxn modelId="{9F71BA3D-49FD-4323-B88E-4C5E606C6628}" type="presParOf" srcId="{77095C9A-5BB2-4996-8B83-F3151815C56E}" destId="{5791D810-08C7-4622-88E7-E459ED575417}" srcOrd="5" destOrd="0" presId="urn:microsoft.com/office/officeart/2008/layout/LinedList"/>
    <dgm:cxn modelId="{22F9BB8A-B4B6-4478-AD09-B5F74CAD7378}" type="presParOf" srcId="{5791D810-08C7-4622-88E7-E459ED575417}" destId="{BFE2C0F6-58F1-4380-A72D-851C289839D3}" srcOrd="0" destOrd="0" presId="urn:microsoft.com/office/officeart/2008/layout/LinedList"/>
    <dgm:cxn modelId="{7ED1A06B-8685-47BB-AE6C-3E9BC1D40DB7}" type="presParOf" srcId="{5791D810-08C7-4622-88E7-E459ED575417}" destId="{45249903-CFCF-45EC-9CF0-0615D09600FE}" srcOrd="1" destOrd="0" presId="urn:microsoft.com/office/officeart/2008/layout/LinedList"/>
    <dgm:cxn modelId="{8C4A3F56-1F8F-48EC-8E8A-DD1DC76AA81C}" type="presParOf" srcId="{77095C9A-5BB2-4996-8B83-F3151815C56E}" destId="{FCA7D76F-09E5-40E2-BF10-6EBABE89F5B1}" srcOrd="6" destOrd="0" presId="urn:microsoft.com/office/officeart/2008/layout/LinedList"/>
    <dgm:cxn modelId="{6845CE82-E68A-47F2-AB25-4A029239A641}" type="presParOf" srcId="{77095C9A-5BB2-4996-8B83-F3151815C56E}" destId="{CE2D0724-21E2-44AA-901D-27392060F5EA}" srcOrd="7" destOrd="0" presId="urn:microsoft.com/office/officeart/2008/layout/LinedList"/>
    <dgm:cxn modelId="{254BF571-8660-4B91-8690-088F337D7BB5}" type="presParOf" srcId="{CE2D0724-21E2-44AA-901D-27392060F5EA}" destId="{29B5BDD7-011E-40C8-A1A3-6F9F249AC989}" srcOrd="0" destOrd="0" presId="urn:microsoft.com/office/officeart/2008/layout/LinedList"/>
    <dgm:cxn modelId="{B37C732D-2A0C-4497-B31C-F1DC212FF706}" type="presParOf" srcId="{CE2D0724-21E2-44AA-901D-27392060F5EA}" destId="{9251572B-BBEA-46B1-85FA-F62BF7E21D9A}" srcOrd="1" destOrd="0" presId="urn:microsoft.com/office/officeart/2008/layout/LinedList"/>
    <dgm:cxn modelId="{B6D02A7B-6800-4532-BAF1-D1AA67BF088B}" type="presParOf" srcId="{77095C9A-5BB2-4996-8B83-F3151815C56E}" destId="{585C4049-BF0F-4CDE-A279-1C1C0D88682F}" srcOrd="8" destOrd="0" presId="urn:microsoft.com/office/officeart/2008/layout/LinedList"/>
    <dgm:cxn modelId="{D7221CA0-74AF-4CD2-9604-414B23507AFC}" type="presParOf" srcId="{77095C9A-5BB2-4996-8B83-F3151815C56E}" destId="{357DEC9D-7395-463F-8B8E-609DEEDE4120}" srcOrd="9" destOrd="0" presId="urn:microsoft.com/office/officeart/2008/layout/LinedList"/>
    <dgm:cxn modelId="{79619878-13E5-4D9C-B0D9-5F8815BA4C9B}" type="presParOf" srcId="{357DEC9D-7395-463F-8B8E-609DEEDE4120}" destId="{24F1EF31-4FA4-4193-A1E3-D476E7AFA29C}" srcOrd="0" destOrd="0" presId="urn:microsoft.com/office/officeart/2008/layout/LinedList"/>
    <dgm:cxn modelId="{19BDBE19-DCED-4F7C-B925-6E80B974BD59}" type="presParOf" srcId="{357DEC9D-7395-463F-8B8E-609DEEDE4120}" destId="{B21928BA-88A5-4102-8DFE-58B4722A439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210BC-58BA-4030-82CB-45A3722CB658}">
      <dsp:nvSpPr>
        <dsp:cNvPr id="0" name=""/>
        <dsp:cNvSpPr/>
      </dsp:nvSpPr>
      <dsp:spPr>
        <a:xfrm>
          <a:off x="0" y="598"/>
          <a:ext cx="102815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E9E3D-91D7-4F20-ABCF-08935694299A}">
      <dsp:nvSpPr>
        <dsp:cNvPr id="0" name=""/>
        <dsp:cNvSpPr/>
      </dsp:nvSpPr>
      <dsp:spPr>
        <a:xfrm>
          <a:off x="0" y="598"/>
          <a:ext cx="10281516" cy="980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Search by NPI or name (e.g., Semonche, Amanda).</a:t>
          </a:r>
          <a:endParaRPr lang="en-US" sz="2700" kern="1200"/>
        </a:p>
      </dsp:txBody>
      <dsp:txXfrm>
        <a:off x="0" y="598"/>
        <a:ext cx="10281516" cy="980644"/>
      </dsp:txXfrm>
    </dsp:sp>
    <dsp:sp modelId="{281BABAD-03E0-4357-A55E-9DB9BD906B5D}">
      <dsp:nvSpPr>
        <dsp:cNvPr id="0" name=""/>
        <dsp:cNvSpPr/>
      </dsp:nvSpPr>
      <dsp:spPr>
        <a:xfrm>
          <a:off x="0" y="981243"/>
          <a:ext cx="102815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5EC58-CE89-4EE1-9A4F-A04617AF57AB}">
      <dsp:nvSpPr>
        <dsp:cNvPr id="0" name=""/>
        <dsp:cNvSpPr/>
      </dsp:nvSpPr>
      <dsp:spPr>
        <a:xfrm>
          <a:off x="0" y="981243"/>
          <a:ext cx="10281516" cy="980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Flexible name matching using normalization (e.g., handles “Last, First” format, removes titles like “Dr.”)</a:t>
          </a:r>
          <a:endParaRPr lang="en-US" sz="2700" kern="1200"/>
        </a:p>
      </dsp:txBody>
      <dsp:txXfrm>
        <a:off x="0" y="981243"/>
        <a:ext cx="10281516" cy="980644"/>
      </dsp:txXfrm>
    </dsp:sp>
    <dsp:sp modelId="{CF229757-63FD-42EB-A5D3-DC6537C31F2C}">
      <dsp:nvSpPr>
        <dsp:cNvPr id="0" name=""/>
        <dsp:cNvSpPr/>
      </dsp:nvSpPr>
      <dsp:spPr>
        <a:xfrm>
          <a:off x="0" y="1961887"/>
          <a:ext cx="102815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2C0F6-58F1-4380-A72D-851C289839D3}">
      <dsp:nvSpPr>
        <dsp:cNvPr id="0" name=""/>
        <dsp:cNvSpPr/>
      </dsp:nvSpPr>
      <dsp:spPr>
        <a:xfrm>
          <a:off x="0" y="1961887"/>
          <a:ext cx="10281516" cy="980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State filter (multiselect).Fraud probability range slider.</a:t>
          </a:r>
          <a:endParaRPr lang="en-US" sz="2700" kern="1200"/>
        </a:p>
      </dsp:txBody>
      <dsp:txXfrm>
        <a:off x="0" y="1961887"/>
        <a:ext cx="10281516" cy="980644"/>
      </dsp:txXfrm>
    </dsp:sp>
    <dsp:sp modelId="{FCA7D76F-09E5-40E2-BF10-6EBABE89F5B1}">
      <dsp:nvSpPr>
        <dsp:cNvPr id="0" name=""/>
        <dsp:cNvSpPr/>
      </dsp:nvSpPr>
      <dsp:spPr>
        <a:xfrm>
          <a:off x="0" y="2942532"/>
          <a:ext cx="102815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5BDD7-011E-40C8-A1A3-6F9F249AC989}">
      <dsp:nvSpPr>
        <dsp:cNvPr id="0" name=""/>
        <dsp:cNvSpPr/>
      </dsp:nvSpPr>
      <dsp:spPr>
        <a:xfrm>
          <a:off x="0" y="2942532"/>
          <a:ext cx="10281516" cy="980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User Experience : Clear button to reset search input.</a:t>
          </a:r>
          <a:endParaRPr lang="en-US" sz="2700" kern="1200"/>
        </a:p>
      </dsp:txBody>
      <dsp:txXfrm>
        <a:off x="0" y="2942532"/>
        <a:ext cx="10281516" cy="980644"/>
      </dsp:txXfrm>
    </dsp:sp>
    <dsp:sp modelId="{585C4049-BF0F-4CDE-A279-1C1C0D88682F}">
      <dsp:nvSpPr>
        <dsp:cNvPr id="0" name=""/>
        <dsp:cNvSpPr/>
      </dsp:nvSpPr>
      <dsp:spPr>
        <a:xfrm>
          <a:off x="0" y="3923176"/>
          <a:ext cx="102815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1EF31-4FA4-4193-A1E3-D476E7AFA29C}">
      <dsp:nvSpPr>
        <dsp:cNvPr id="0" name=""/>
        <dsp:cNvSpPr/>
      </dsp:nvSpPr>
      <dsp:spPr>
        <a:xfrm>
          <a:off x="0" y="3923176"/>
          <a:ext cx="10281516" cy="980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Spinner during analysis for better UX.</a:t>
          </a:r>
          <a:endParaRPr lang="en-US" sz="2700" kern="1200"/>
        </a:p>
      </dsp:txBody>
      <dsp:txXfrm>
        <a:off x="0" y="3923176"/>
        <a:ext cx="10281516" cy="980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4.svg"/><Relationship Id="rId7" Type="http://schemas.openxmlformats.org/officeDocument/2006/relationships/image" Target="../media/image3.svg"/><Relationship Id="rId12" Type="http://schemas.microsoft.com/office/2007/relationships/diagramDrawing" Target="../diagrams/drawing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14.sv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13.png"/><Relationship Id="rId9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3990" y="4986938"/>
            <a:ext cx="5105802" cy="740016"/>
            <a:chOff x="0" y="0"/>
            <a:chExt cx="1344738" cy="194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4738" cy="194901"/>
            </a:xfrm>
            <a:custGeom>
              <a:avLst/>
              <a:gdLst/>
              <a:ahLst/>
              <a:cxnLst/>
              <a:rect l="l" t="t" r="r" b="b"/>
              <a:pathLst>
                <a:path w="1344738" h="194901">
                  <a:moveTo>
                    <a:pt x="97451" y="0"/>
                  </a:moveTo>
                  <a:lnTo>
                    <a:pt x="1247287" y="0"/>
                  </a:lnTo>
                  <a:cubicBezTo>
                    <a:pt x="1273133" y="0"/>
                    <a:pt x="1297920" y="10267"/>
                    <a:pt x="1316195" y="28543"/>
                  </a:cubicBezTo>
                  <a:cubicBezTo>
                    <a:pt x="1334471" y="46818"/>
                    <a:pt x="1344738" y="71605"/>
                    <a:pt x="1344738" y="97451"/>
                  </a:cubicBezTo>
                  <a:lnTo>
                    <a:pt x="1344738" y="97451"/>
                  </a:lnTo>
                  <a:cubicBezTo>
                    <a:pt x="1344738" y="123296"/>
                    <a:pt x="1334471" y="148083"/>
                    <a:pt x="1316195" y="166359"/>
                  </a:cubicBezTo>
                  <a:cubicBezTo>
                    <a:pt x="1297920" y="184634"/>
                    <a:pt x="1273133" y="194901"/>
                    <a:pt x="1247287" y="194901"/>
                  </a:cubicBezTo>
                  <a:lnTo>
                    <a:pt x="97451" y="194901"/>
                  </a:lnTo>
                  <a:cubicBezTo>
                    <a:pt x="71605" y="194901"/>
                    <a:pt x="46818" y="184634"/>
                    <a:pt x="28543" y="166359"/>
                  </a:cubicBezTo>
                  <a:cubicBezTo>
                    <a:pt x="10267" y="148083"/>
                    <a:pt x="0" y="123296"/>
                    <a:pt x="0" y="97451"/>
                  </a:cubicBezTo>
                  <a:lnTo>
                    <a:pt x="0" y="97451"/>
                  </a:lnTo>
                  <a:cubicBezTo>
                    <a:pt x="0" y="71605"/>
                    <a:pt x="10267" y="46818"/>
                    <a:pt x="28543" y="28543"/>
                  </a:cubicBezTo>
                  <a:cubicBezTo>
                    <a:pt x="46818" y="10267"/>
                    <a:pt x="71605" y="0"/>
                    <a:pt x="974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60000"/>
                  </a:srgbClr>
                </a:gs>
                <a:gs pos="50000">
                  <a:srgbClr val="0151B8">
                    <a:alpha val="144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44738" cy="233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3890140">
            <a:off x="16906391" y="141292"/>
            <a:ext cx="5289783" cy="52897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90000"/>
                  </a:srgbClr>
                </a:gs>
                <a:gs pos="50000">
                  <a:srgbClr val="0151B8">
                    <a:alpha val="216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3890140">
            <a:off x="17373685" y="4678407"/>
            <a:ext cx="1384678" cy="13846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90000"/>
                  </a:srgbClr>
                </a:gs>
                <a:gs pos="100000">
                  <a:srgbClr val="0151B8">
                    <a:alpha val="216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3770140">
            <a:off x="15794190" y="675669"/>
            <a:ext cx="730678" cy="73067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08209" y="1721623"/>
            <a:ext cx="6661162" cy="66611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8262" tIns="48262" rIns="48262" bIns="4826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95650" y="2109064"/>
            <a:ext cx="5886280" cy="588628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 flipH="1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7369" r="-27369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reeform 20"/>
          <p:cNvSpPr/>
          <p:nvPr/>
        </p:nvSpPr>
        <p:spPr>
          <a:xfrm>
            <a:off x="9344025" y="650206"/>
            <a:ext cx="1302738" cy="701789"/>
          </a:xfrm>
          <a:custGeom>
            <a:avLst/>
            <a:gdLst/>
            <a:ahLst/>
            <a:cxnLst/>
            <a:rect l="l" t="t" r="r" b="b"/>
            <a:pathLst>
              <a:path w="1302738" h="701789">
                <a:moveTo>
                  <a:pt x="0" y="0"/>
                </a:moveTo>
                <a:lnTo>
                  <a:pt x="1302738" y="0"/>
                </a:lnTo>
                <a:lnTo>
                  <a:pt x="1302738" y="701790"/>
                </a:lnTo>
                <a:lnTo>
                  <a:pt x="0" y="701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6140479" y="8362424"/>
            <a:ext cx="1302738" cy="701789"/>
          </a:xfrm>
          <a:custGeom>
            <a:avLst/>
            <a:gdLst/>
            <a:ahLst/>
            <a:cxnLst/>
            <a:rect l="l" t="t" r="r" b="b"/>
            <a:pathLst>
              <a:path w="1302738" h="701789">
                <a:moveTo>
                  <a:pt x="0" y="0"/>
                </a:moveTo>
                <a:lnTo>
                  <a:pt x="1302738" y="0"/>
                </a:lnTo>
                <a:lnTo>
                  <a:pt x="1302738" y="701789"/>
                </a:lnTo>
                <a:lnTo>
                  <a:pt x="0" y="7017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-22123" y="9510185"/>
            <a:ext cx="18518127" cy="798211"/>
            <a:chOff x="0" y="0"/>
            <a:chExt cx="4877202" cy="2102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77202" cy="210228"/>
            </a:xfrm>
            <a:custGeom>
              <a:avLst/>
              <a:gdLst/>
              <a:ahLst/>
              <a:cxnLst/>
              <a:rect l="l" t="t" r="r" b="b"/>
              <a:pathLst>
                <a:path w="4877202" h="210228">
                  <a:moveTo>
                    <a:pt x="0" y="0"/>
                  </a:moveTo>
                  <a:lnTo>
                    <a:pt x="4877202" y="0"/>
                  </a:lnTo>
                  <a:lnTo>
                    <a:pt x="4877202" y="210228"/>
                  </a:lnTo>
                  <a:lnTo>
                    <a:pt x="0" y="210228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4877202" cy="276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97104" y="2617276"/>
            <a:ext cx="8398863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65"/>
              </a:lnSpc>
            </a:pPr>
            <a:r>
              <a:rPr lang="en-US" sz="8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Health Care Fraud Detection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96782" y="5052204"/>
            <a:ext cx="8015880" cy="54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2"/>
              </a:lnSpc>
              <a:spcBef>
                <a:spcPct val="0"/>
              </a:spcBef>
            </a:pPr>
            <a:r>
              <a:rPr lang="en-US" sz="3216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Final Presentation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1638" y="7911588"/>
            <a:ext cx="3631535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4"/>
              </a:lnSpc>
              <a:spcBef>
                <a:spcPct val="0"/>
              </a:spcBef>
            </a:pPr>
            <a:r>
              <a:rPr lang="en-US" sz="246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1638" y="8353922"/>
            <a:ext cx="4482953" cy="55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68" b="1" spc="-65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8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44732"/>
            <a:ext cx="18288000" cy="5964026"/>
            <a:chOff x="0" y="0"/>
            <a:chExt cx="4816593" cy="15707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70772"/>
            </a:xfrm>
            <a:custGeom>
              <a:avLst/>
              <a:gdLst/>
              <a:ahLst/>
              <a:cxnLst/>
              <a:rect l="l" t="t" r="r" b="b"/>
              <a:pathLst>
                <a:path w="4816592" h="1570772">
                  <a:moveTo>
                    <a:pt x="0" y="0"/>
                  </a:moveTo>
                  <a:lnTo>
                    <a:pt x="4816592" y="0"/>
                  </a:lnTo>
                  <a:lnTo>
                    <a:pt x="4816592" y="1570772"/>
                  </a:lnTo>
                  <a:lnTo>
                    <a:pt x="0" y="1570772"/>
                  </a:ln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627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3702454" y="1200228"/>
            <a:ext cx="11028589" cy="1074105"/>
            <a:chOff x="0" y="0"/>
            <a:chExt cx="2904649" cy="2828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04649" cy="282892"/>
            </a:xfrm>
            <a:custGeom>
              <a:avLst/>
              <a:gdLst/>
              <a:ahLst/>
              <a:cxnLst/>
              <a:rect l="l" t="t" r="r" b="b"/>
              <a:pathLst>
                <a:path w="2904649" h="282892">
                  <a:moveTo>
                    <a:pt x="70199" y="0"/>
                  </a:moveTo>
                  <a:lnTo>
                    <a:pt x="2834450" y="0"/>
                  </a:lnTo>
                  <a:cubicBezTo>
                    <a:pt x="2853068" y="0"/>
                    <a:pt x="2870923" y="7396"/>
                    <a:pt x="2884088" y="20561"/>
                  </a:cubicBezTo>
                  <a:cubicBezTo>
                    <a:pt x="2897253" y="33726"/>
                    <a:pt x="2904649" y="51581"/>
                    <a:pt x="2904649" y="70199"/>
                  </a:cubicBezTo>
                  <a:lnTo>
                    <a:pt x="2904649" y="212693"/>
                  </a:lnTo>
                  <a:cubicBezTo>
                    <a:pt x="2904649" y="231311"/>
                    <a:pt x="2897253" y="249166"/>
                    <a:pt x="2884088" y="262331"/>
                  </a:cubicBezTo>
                  <a:cubicBezTo>
                    <a:pt x="2870923" y="275496"/>
                    <a:pt x="2853068" y="282892"/>
                    <a:pt x="2834450" y="282892"/>
                  </a:cubicBezTo>
                  <a:lnTo>
                    <a:pt x="70199" y="282892"/>
                  </a:lnTo>
                  <a:cubicBezTo>
                    <a:pt x="51581" y="282892"/>
                    <a:pt x="33726" y="275496"/>
                    <a:pt x="20561" y="262331"/>
                  </a:cubicBezTo>
                  <a:cubicBezTo>
                    <a:pt x="7396" y="249166"/>
                    <a:pt x="0" y="231311"/>
                    <a:pt x="0" y="212693"/>
                  </a:cubicBezTo>
                  <a:lnTo>
                    <a:pt x="0" y="70199"/>
                  </a:lnTo>
                  <a:cubicBezTo>
                    <a:pt x="0" y="51581"/>
                    <a:pt x="7396" y="33726"/>
                    <a:pt x="20561" y="20561"/>
                  </a:cubicBezTo>
                  <a:cubicBezTo>
                    <a:pt x="33726" y="7396"/>
                    <a:pt x="51581" y="0"/>
                    <a:pt x="701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904649" cy="320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40170" y="1203198"/>
            <a:ext cx="10626710" cy="94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641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Our Team Members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56064" y="3039945"/>
            <a:ext cx="3194065" cy="319406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17337" tIns="17337" rIns="17337" bIns="173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89067" y="3078010"/>
            <a:ext cx="3194065" cy="319406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17337" tIns="17337" rIns="17337" bIns="173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42096" y="3089997"/>
            <a:ext cx="3194065" cy="319406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17337" tIns="17337" rIns="17337" bIns="173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91041" y="7263534"/>
            <a:ext cx="3754839" cy="53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53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Reduces waiting times for consultations and follow-ups.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82050" y="6416439"/>
            <a:ext cx="4046757" cy="57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258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Devika Dileep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829265" y="7174398"/>
            <a:ext cx="3566203" cy="53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53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chats between patients and professionals.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01884" y="6399517"/>
            <a:ext cx="4046757" cy="57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258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Sandra Sajimon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641540" y="7222057"/>
            <a:ext cx="3754839" cy="53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53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Increases access to specialists and resources across distances.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349622" y="6402952"/>
            <a:ext cx="4046757" cy="57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258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John Hanok</a:t>
            </a:r>
          </a:p>
        </p:txBody>
      </p:sp>
      <p:sp>
        <p:nvSpPr>
          <p:cNvPr id="61" name="Freeform 61"/>
          <p:cNvSpPr/>
          <p:nvPr/>
        </p:nvSpPr>
        <p:spPr>
          <a:xfrm>
            <a:off x="835528" y="754381"/>
            <a:ext cx="1089167" cy="586738"/>
          </a:xfrm>
          <a:custGeom>
            <a:avLst/>
            <a:gdLst/>
            <a:ahLst/>
            <a:cxnLst/>
            <a:rect l="l" t="t" r="r" b="b"/>
            <a:pathLst>
              <a:path w="1089167" h="586738">
                <a:moveTo>
                  <a:pt x="0" y="0"/>
                </a:moveTo>
                <a:lnTo>
                  <a:pt x="1089167" y="0"/>
                </a:lnTo>
                <a:lnTo>
                  <a:pt x="1089167" y="586738"/>
                </a:lnTo>
                <a:lnTo>
                  <a:pt x="0" y="586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2" name="Freeform 62"/>
          <p:cNvSpPr/>
          <p:nvPr/>
        </p:nvSpPr>
        <p:spPr>
          <a:xfrm>
            <a:off x="16363305" y="754381"/>
            <a:ext cx="1089167" cy="586738"/>
          </a:xfrm>
          <a:custGeom>
            <a:avLst/>
            <a:gdLst/>
            <a:ahLst/>
            <a:cxnLst/>
            <a:rect l="l" t="t" r="r" b="b"/>
            <a:pathLst>
              <a:path w="1089167" h="586738">
                <a:moveTo>
                  <a:pt x="0" y="0"/>
                </a:moveTo>
                <a:lnTo>
                  <a:pt x="1089167" y="0"/>
                </a:lnTo>
                <a:lnTo>
                  <a:pt x="1089167" y="586738"/>
                </a:lnTo>
                <a:lnTo>
                  <a:pt x="0" y="586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3" name="Group 63"/>
          <p:cNvGrpSpPr/>
          <p:nvPr/>
        </p:nvGrpSpPr>
        <p:grpSpPr>
          <a:xfrm rot="-10800000">
            <a:off x="-118190" y="9999585"/>
            <a:ext cx="18669876" cy="574829"/>
            <a:chOff x="0" y="0"/>
            <a:chExt cx="4917169" cy="15139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917169" cy="151395"/>
            </a:xfrm>
            <a:custGeom>
              <a:avLst/>
              <a:gdLst/>
              <a:ahLst/>
              <a:cxnLst/>
              <a:rect l="l" t="t" r="r" b="b"/>
              <a:pathLst>
                <a:path w="4917169" h="151395">
                  <a:moveTo>
                    <a:pt x="41467" y="0"/>
                  </a:moveTo>
                  <a:lnTo>
                    <a:pt x="4875702" y="0"/>
                  </a:lnTo>
                  <a:cubicBezTo>
                    <a:pt x="4898604" y="0"/>
                    <a:pt x="4917169" y="18566"/>
                    <a:pt x="4917169" y="41467"/>
                  </a:cubicBezTo>
                  <a:lnTo>
                    <a:pt x="4917169" y="109928"/>
                  </a:lnTo>
                  <a:cubicBezTo>
                    <a:pt x="4917169" y="132830"/>
                    <a:pt x="4898604" y="151395"/>
                    <a:pt x="4875702" y="151395"/>
                  </a:cubicBezTo>
                  <a:lnTo>
                    <a:pt x="41467" y="151395"/>
                  </a:lnTo>
                  <a:cubicBezTo>
                    <a:pt x="18566" y="151395"/>
                    <a:pt x="0" y="132830"/>
                    <a:pt x="0" y="109928"/>
                  </a:cubicBezTo>
                  <a:lnTo>
                    <a:pt x="0" y="41467"/>
                  </a:lnTo>
                  <a:cubicBezTo>
                    <a:pt x="0" y="18566"/>
                    <a:pt x="18566" y="0"/>
                    <a:pt x="414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4917169" cy="18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" name="Picture 9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738E8302-8C4D-3255-A7FE-CB5A1FD8B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519" y="3760908"/>
            <a:ext cx="1752481" cy="2082949"/>
          </a:xfrm>
          <a:prstGeom prst="rect">
            <a:avLst/>
          </a:prstGeom>
        </p:spPr>
      </p:pic>
      <p:pic>
        <p:nvPicPr>
          <p:cNvPr id="15" name="Picture 14" descr="A person with dark hair and pink shirt&#10;&#10;AI-generated content may be incorrect.">
            <a:extLst>
              <a:ext uri="{FF2B5EF4-FFF2-40B4-BE49-F238E27FC236}">
                <a16:creationId xmlns:a16="http://schemas.microsoft.com/office/drawing/2014/main" id="{A576F73D-24CC-B086-41C5-5AB448EB5B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147" y="3652071"/>
            <a:ext cx="1801081" cy="22099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EB15FE-64A7-14B5-D421-101F7802FD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373" y="3670198"/>
            <a:ext cx="1630244" cy="2173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59050" y="1692203"/>
            <a:ext cx="13086832" cy="1569030"/>
            <a:chOff x="0" y="0"/>
            <a:chExt cx="3446738" cy="413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6738" cy="413243"/>
            </a:xfrm>
            <a:custGeom>
              <a:avLst/>
              <a:gdLst/>
              <a:ahLst/>
              <a:cxnLst/>
              <a:rect l="l" t="t" r="r" b="b"/>
              <a:pathLst>
                <a:path w="3446738" h="413243">
                  <a:moveTo>
                    <a:pt x="59158" y="0"/>
                  </a:moveTo>
                  <a:lnTo>
                    <a:pt x="3387580" y="0"/>
                  </a:lnTo>
                  <a:cubicBezTo>
                    <a:pt x="3420252" y="0"/>
                    <a:pt x="3446738" y="26486"/>
                    <a:pt x="3446738" y="59158"/>
                  </a:cubicBezTo>
                  <a:lnTo>
                    <a:pt x="3446738" y="354084"/>
                  </a:lnTo>
                  <a:cubicBezTo>
                    <a:pt x="3446738" y="369774"/>
                    <a:pt x="3440505" y="384821"/>
                    <a:pt x="3429411" y="395916"/>
                  </a:cubicBezTo>
                  <a:cubicBezTo>
                    <a:pt x="3418317" y="407010"/>
                    <a:pt x="3403269" y="413243"/>
                    <a:pt x="3387580" y="413243"/>
                  </a:cubicBezTo>
                  <a:lnTo>
                    <a:pt x="59158" y="413243"/>
                  </a:lnTo>
                  <a:cubicBezTo>
                    <a:pt x="26486" y="413243"/>
                    <a:pt x="0" y="386757"/>
                    <a:pt x="0" y="354084"/>
                  </a:cubicBezTo>
                  <a:lnTo>
                    <a:pt x="0" y="59158"/>
                  </a:lnTo>
                  <a:cubicBezTo>
                    <a:pt x="0" y="26486"/>
                    <a:pt x="26486" y="0"/>
                    <a:pt x="5915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46738" cy="45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80264" y="9693888"/>
            <a:ext cx="10373540" cy="992216"/>
            <a:chOff x="0" y="0"/>
            <a:chExt cx="2732126" cy="26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2126" cy="261324"/>
            </a:xfrm>
            <a:custGeom>
              <a:avLst/>
              <a:gdLst/>
              <a:ahLst/>
              <a:cxnLst/>
              <a:rect l="l" t="t" r="r" b="b"/>
              <a:pathLst>
                <a:path w="2732126" h="261324">
                  <a:moveTo>
                    <a:pt x="74631" y="0"/>
                  </a:moveTo>
                  <a:lnTo>
                    <a:pt x="2657494" y="0"/>
                  </a:lnTo>
                  <a:cubicBezTo>
                    <a:pt x="2677288" y="0"/>
                    <a:pt x="2696271" y="7863"/>
                    <a:pt x="2710267" y="21859"/>
                  </a:cubicBezTo>
                  <a:cubicBezTo>
                    <a:pt x="2724263" y="35855"/>
                    <a:pt x="2732126" y="54838"/>
                    <a:pt x="2732126" y="74631"/>
                  </a:cubicBezTo>
                  <a:lnTo>
                    <a:pt x="2732126" y="186693"/>
                  </a:lnTo>
                  <a:cubicBezTo>
                    <a:pt x="2732126" y="206486"/>
                    <a:pt x="2724263" y="225469"/>
                    <a:pt x="2710267" y="239465"/>
                  </a:cubicBezTo>
                  <a:cubicBezTo>
                    <a:pt x="2696271" y="253461"/>
                    <a:pt x="2677288" y="261324"/>
                    <a:pt x="2657494" y="261324"/>
                  </a:cubicBezTo>
                  <a:lnTo>
                    <a:pt x="74631" y="261324"/>
                  </a:lnTo>
                  <a:cubicBezTo>
                    <a:pt x="54838" y="261324"/>
                    <a:pt x="35855" y="253461"/>
                    <a:pt x="21859" y="239465"/>
                  </a:cubicBezTo>
                  <a:cubicBezTo>
                    <a:pt x="7863" y="225469"/>
                    <a:pt x="0" y="206486"/>
                    <a:pt x="0" y="186693"/>
                  </a:cubicBezTo>
                  <a:lnTo>
                    <a:pt x="0" y="74631"/>
                  </a:lnTo>
                  <a:cubicBezTo>
                    <a:pt x="0" y="54838"/>
                    <a:pt x="7863" y="35855"/>
                    <a:pt x="21859" y="21859"/>
                  </a:cubicBezTo>
                  <a:cubicBezTo>
                    <a:pt x="35855" y="7863"/>
                    <a:pt x="54838" y="0"/>
                    <a:pt x="746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32126" cy="29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0213" y="638983"/>
            <a:ext cx="4874921" cy="703410"/>
            <a:chOff x="0" y="0"/>
            <a:chExt cx="1283930" cy="1852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3930" cy="185260"/>
            </a:xfrm>
            <a:custGeom>
              <a:avLst/>
              <a:gdLst/>
              <a:ahLst/>
              <a:cxnLst/>
              <a:rect l="l" t="t" r="r" b="b"/>
              <a:pathLst>
                <a:path w="1283930" h="185260">
                  <a:moveTo>
                    <a:pt x="92630" y="0"/>
                  </a:moveTo>
                  <a:lnTo>
                    <a:pt x="1191300" y="0"/>
                  </a:lnTo>
                  <a:cubicBezTo>
                    <a:pt x="1215867" y="0"/>
                    <a:pt x="1239427" y="9759"/>
                    <a:pt x="1256799" y="27131"/>
                  </a:cubicBezTo>
                  <a:cubicBezTo>
                    <a:pt x="1274170" y="44502"/>
                    <a:pt x="1283930" y="68063"/>
                    <a:pt x="1283930" y="92630"/>
                  </a:cubicBezTo>
                  <a:lnTo>
                    <a:pt x="1283930" y="92630"/>
                  </a:lnTo>
                  <a:cubicBezTo>
                    <a:pt x="1283930" y="143788"/>
                    <a:pt x="1242458" y="185260"/>
                    <a:pt x="1191300" y="185260"/>
                  </a:cubicBezTo>
                  <a:lnTo>
                    <a:pt x="92630" y="185260"/>
                  </a:lnTo>
                  <a:cubicBezTo>
                    <a:pt x="41472" y="185260"/>
                    <a:pt x="0" y="143788"/>
                    <a:pt x="0" y="92630"/>
                  </a:cubicBezTo>
                  <a:lnTo>
                    <a:pt x="0" y="92630"/>
                  </a:lnTo>
                  <a:cubicBezTo>
                    <a:pt x="0" y="41472"/>
                    <a:pt x="41472" y="0"/>
                    <a:pt x="926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59000"/>
                  </a:srgbClr>
                </a:gs>
                <a:gs pos="50000">
                  <a:srgbClr val="0151B8">
                    <a:alpha val="1416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3930" cy="223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90213" y="1948645"/>
            <a:ext cx="8051835" cy="10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0"/>
              </a:lnSpc>
            </a:pPr>
            <a:r>
              <a:rPr lang="en-US" sz="7322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0213" y="3683202"/>
            <a:ext cx="9323116" cy="505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the healthcare industry, fraudulent claims cost billions of dollars annually, affecting both insurers and patients. Our project aims to detect fraudulent prescribing behaviors using machine learning and AI-driven analytics. By analyzing vast datasets of prescription claims, we will identify high-risk prescribers and prevent unnecessary financial losses . This project is not just about data and algorithms but it’s about making a real impact on healthcare efficiency, cost savings, and patient care.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1480264" y="2415278"/>
            <a:ext cx="6041359" cy="60413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2600" tIns="42600" rIns="42600" bIns="426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53780" y="2788795"/>
            <a:ext cx="5294326" cy="529432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7971" r="-21840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93546" y="1154440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1"/>
                </a:lnTo>
                <a:lnTo>
                  <a:pt x="0" y="710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 rot="-1026235" flipH="1">
            <a:off x="18369309" y="1818709"/>
            <a:ext cx="7249660" cy="4304486"/>
          </a:xfrm>
          <a:custGeom>
            <a:avLst/>
            <a:gdLst/>
            <a:ahLst/>
            <a:cxnLst/>
            <a:rect l="l" t="t" r="r" b="b"/>
            <a:pathLst>
              <a:path w="7249660" h="4304486">
                <a:moveTo>
                  <a:pt x="7249660" y="0"/>
                </a:moveTo>
                <a:lnTo>
                  <a:pt x="0" y="0"/>
                </a:lnTo>
                <a:lnTo>
                  <a:pt x="0" y="4304486"/>
                </a:lnTo>
                <a:lnTo>
                  <a:pt x="7249660" y="4304486"/>
                </a:lnTo>
                <a:lnTo>
                  <a:pt x="7249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57401" y="2198687"/>
            <a:ext cx="89154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53"/>
              </a:lnSpc>
            </a:pPr>
            <a:r>
              <a:rPr lang="en-US" sz="6307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Tools and Environment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64322" y="4190205"/>
            <a:ext cx="8816958" cy="42551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preprocessing, Streamlit for the web app.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Libraries Used: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 pandas,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google.colab.files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pandas,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plotly.graph_objects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plotly.express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" name="Group 29"/>
          <p:cNvGrpSpPr/>
          <p:nvPr/>
        </p:nvGrpSpPr>
        <p:grpSpPr>
          <a:xfrm rot="2889583">
            <a:off x="14089407" y="7527829"/>
            <a:ext cx="6986782" cy="8647287"/>
            <a:chOff x="0" y="0"/>
            <a:chExt cx="1906815" cy="23599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06815" cy="2359996"/>
            </a:xfrm>
            <a:custGeom>
              <a:avLst/>
              <a:gdLst/>
              <a:ahLst/>
              <a:cxnLst/>
              <a:rect l="l" t="t" r="r" b="b"/>
              <a:pathLst>
                <a:path w="1906815" h="2359996">
                  <a:moveTo>
                    <a:pt x="0" y="0"/>
                  </a:moveTo>
                  <a:lnTo>
                    <a:pt x="1906815" y="0"/>
                  </a:lnTo>
                  <a:lnTo>
                    <a:pt x="1906815" y="2359996"/>
                  </a:lnTo>
                  <a:lnTo>
                    <a:pt x="0" y="2359996"/>
                  </a:ln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906815" cy="2417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2889583">
            <a:off x="14762946" y="9051884"/>
            <a:ext cx="6986782" cy="6544861"/>
            <a:chOff x="0" y="0"/>
            <a:chExt cx="1906815" cy="178620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06815" cy="1786207"/>
            </a:xfrm>
            <a:custGeom>
              <a:avLst/>
              <a:gdLst/>
              <a:ahLst/>
              <a:cxnLst/>
              <a:rect l="l" t="t" r="r" b="b"/>
              <a:pathLst>
                <a:path w="1906815" h="1786207">
                  <a:moveTo>
                    <a:pt x="0" y="0"/>
                  </a:moveTo>
                  <a:lnTo>
                    <a:pt x="1906815" y="0"/>
                  </a:lnTo>
                  <a:lnTo>
                    <a:pt x="1906815" y="1786207"/>
                  </a:lnTo>
                  <a:lnTo>
                    <a:pt x="0" y="1786207"/>
                  </a:ln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906815" cy="1843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 rot="2889583">
            <a:off x="-469608" y="-3153696"/>
            <a:ext cx="2549429" cy="8029063"/>
            <a:chOff x="0" y="0"/>
            <a:chExt cx="695784" cy="21912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95784" cy="2191272"/>
            </a:xfrm>
            <a:custGeom>
              <a:avLst/>
              <a:gdLst/>
              <a:ahLst/>
              <a:cxnLst/>
              <a:rect l="l" t="t" r="r" b="b"/>
              <a:pathLst>
                <a:path w="695784" h="2191272">
                  <a:moveTo>
                    <a:pt x="0" y="0"/>
                  </a:moveTo>
                  <a:lnTo>
                    <a:pt x="695784" y="0"/>
                  </a:lnTo>
                  <a:lnTo>
                    <a:pt x="695784" y="2191272"/>
                  </a:lnTo>
                  <a:lnTo>
                    <a:pt x="0" y="2191272"/>
                  </a:ln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695784" cy="22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 rot="2889583">
            <a:off x="-794455" y="-1458097"/>
            <a:ext cx="1833864" cy="4699825"/>
            <a:chOff x="0" y="0"/>
            <a:chExt cx="500494" cy="128266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0494" cy="1282665"/>
            </a:xfrm>
            <a:custGeom>
              <a:avLst/>
              <a:gdLst/>
              <a:ahLst/>
              <a:cxnLst/>
              <a:rect l="l" t="t" r="r" b="b"/>
              <a:pathLst>
                <a:path w="500494" h="1282665">
                  <a:moveTo>
                    <a:pt x="0" y="0"/>
                  </a:moveTo>
                  <a:lnTo>
                    <a:pt x="500494" y="0"/>
                  </a:lnTo>
                  <a:lnTo>
                    <a:pt x="500494" y="1282665"/>
                  </a:lnTo>
                  <a:lnTo>
                    <a:pt x="0" y="1282665"/>
                  </a:ln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500494" cy="1339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835787" y="9104224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Freeform 42"/>
          <p:cNvSpPr/>
          <p:nvPr/>
        </p:nvSpPr>
        <p:spPr>
          <a:xfrm>
            <a:off x="8484787" y="860836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821203" y="-476188"/>
            <a:ext cx="6995884" cy="952375"/>
            <a:chOff x="0" y="0"/>
            <a:chExt cx="1842537" cy="2508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2537" cy="250831"/>
            </a:xfrm>
            <a:custGeom>
              <a:avLst/>
              <a:gdLst/>
              <a:ahLst/>
              <a:cxnLst/>
              <a:rect l="l" t="t" r="r" b="b"/>
              <a:pathLst>
                <a:path w="1842537" h="250831">
                  <a:moveTo>
                    <a:pt x="110664" y="0"/>
                  </a:moveTo>
                  <a:lnTo>
                    <a:pt x="1731873" y="0"/>
                  </a:lnTo>
                  <a:cubicBezTo>
                    <a:pt x="1792991" y="0"/>
                    <a:pt x="1842537" y="49546"/>
                    <a:pt x="1842537" y="110664"/>
                  </a:cubicBezTo>
                  <a:lnTo>
                    <a:pt x="1842537" y="140167"/>
                  </a:lnTo>
                  <a:cubicBezTo>
                    <a:pt x="1842537" y="201285"/>
                    <a:pt x="1792991" y="250831"/>
                    <a:pt x="1731873" y="250831"/>
                  </a:cubicBezTo>
                  <a:lnTo>
                    <a:pt x="110664" y="250831"/>
                  </a:lnTo>
                  <a:cubicBezTo>
                    <a:pt x="49546" y="250831"/>
                    <a:pt x="0" y="201285"/>
                    <a:pt x="0" y="140167"/>
                  </a:cubicBezTo>
                  <a:lnTo>
                    <a:pt x="0" y="110664"/>
                  </a:lnTo>
                  <a:cubicBezTo>
                    <a:pt x="0" y="49546"/>
                    <a:pt x="49546" y="0"/>
                    <a:pt x="1106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42537" cy="28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1435557">
            <a:off x="13874145" y="284102"/>
            <a:ext cx="7181933" cy="13411827"/>
            <a:chOff x="0" y="0"/>
            <a:chExt cx="1960075" cy="36603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0075" cy="3660322"/>
            </a:xfrm>
            <a:custGeom>
              <a:avLst/>
              <a:gdLst/>
              <a:ahLst/>
              <a:cxnLst/>
              <a:rect l="l" t="t" r="r" b="b"/>
              <a:pathLst>
                <a:path w="1960075" h="3660322">
                  <a:moveTo>
                    <a:pt x="0" y="0"/>
                  </a:moveTo>
                  <a:lnTo>
                    <a:pt x="1960075" y="0"/>
                  </a:lnTo>
                  <a:lnTo>
                    <a:pt x="1960075" y="3660322"/>
                  </a:lnTo>
                  <a:lnTo>
                    <a:pt x="0" y="3660322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960075" cy="371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1435557">
            <a:off x="15083511" y="687446"/>
            <a:ext cx="6986782" cy="14276457"/>
            <a:chOff x="0" y="0"/>
            <a:chExt cx="1906815" cy="38962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06815" cy="3896295"/>
            </a:xfrm>
            <a:custGeom>
              <a:avLst/>
              <a:gdLst/>
              <a:ahLst/>
              <a:cxnLst/>
              <a:rect l="l" t="t" r="r" b="b"/>
              <a:pathLst>
                <a:path w="1906815" h="3896295">
                  <a:moveTo>
                    <a:pt x="0" y="0"/>
                  </a:moveTo>
                  <a:lnTo>
                    <a:pt x="1906815" y="0"/>
                  </a:lnTo>
                  <a:lnTo>
                    <a:pt x="1906815" y="3896295"/>
                  </a:lnTo>
                  <a:lnTo>
                    <a:pt x="0" y="3896295"/>
                  </a:ln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100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906815" cy="395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1435557">
            <a:off x="16964360" y="1258408"/>
            <a:ext cx="6986782" cy="14276457"/>
            <a:chOff x="0" y="0"/>
            <a:chExt cx="1906815" cy="38962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06815" cy="3896295"/>
            </a:xfrm>
            <a:custGeom>
              <a:avLst/>
              <a:gdLst/>
              <a:ahLst/>
              <a:cxnLst/>
              <a:rect l="l" t="t" r="r" b="b"/>
              <a:pathLst>
                <a:path w="1906815" h="3896295">
                  <a:moveTo>
                    <a:pt x="0" y="0"/>
                  </a:moveTo>
                  <a:lnTo>
                    <a:pt x="1906815" y="0"/>
                  </a:lnTo>
                  <a:lnTo>
                    <a:pt x="1906815" y="3896295"/>
                  </a:lnTo>
                  <a:lnTo>
                    <a:pt x="0" y="3896295"/>
                  </a:ln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906815" cy="395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845770" y="9847814"/>
            <a:ext cx="6720660" cy="823500"/>
            <a:chOff x="0" y="0"/>
            <a:chExt cx="1770050" cy="2168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0050" cy="216889"/>
            </a:xfrm>
            <a:custGeom>
              <a:avLst/>
              <a:gdLst/>
              <a:ahLst/>
              <a:cxnLst/>
              <a:rect l="l" t="t" r="r" b="b"/>
              <a:pathLst>
                <a:path w="1770050" h="216889">
                  <a:moveTo>
                    <a:pt x="108444" y="0"/>
                  </a:moveTo>
                  <a:lnTo>
                    <a:pt x="1661606" y="0"/>
                  </a:lnTo>
                  <a:cubicBezTo>
                    <a:pt x="1690367" y="0"/>
                    <a:pt x="1717951" y="11425"/>
                    <a:pt x="1738288" y="31763"/>
                  </a:cubicBezTo>
                  <a:cubicBezTo>
                    <a:pt x="1758625" y="52100"/>
                    <a:pt x="1770050" y="79683"/>
                    <a:pt x="1770050" y="108444"/>
                  </a:cubicBezTo>
                  <a:lnTo>
                    <a:pt x="1770050" y="108444"/>
                  </a:lnTo>
                  <a:cubicBezTo>
                    <a:pt x="1770050" y="137206"/>
                    <a:pt x="1758625" y="164789"/>
                    <a:pt x="1738288" y="185126"/>
                  </a:cubicBezTo>
                  <a:cubicBezTo>
                    <a:pt x="1717951" y="205463"/>
                    <a:pt x="1690367" y="216889"/>
                    <a:pt x="1661606" y="216889"/>
                  </a:cubicBezTo>
                  <a:lnTo>
                    <a:pt x="108444" y="216889"/>
                  </a:lnTo>
                  <a:cubicBezTo>
                    <a:pt x="79683" y="216889"/>
                    <a:pt x="52100" y="205463"/>
                    <a:pt x="31763" y="185126"/>
                  </a:cubicBezTo>
                  <a:cubicBezTo>
                    <a:pt x="11425" y="164789"/>
                    <a:pt x="0" y="137206"/>
                    <a:pt x="0" y="108444"/>
                  </a:cubicBezTo>
                  <a:lnTo>
                    <a:pt x="0" y="108444"/>
                  </a:lnTo>
                  <a:cubicBezTo>
                    <a:pt x="0" y="79683"/>
                    <a:pt x="11425" y="52100"/>
                    <a:pt x="31763" y="31763"/>
                  </a:cubicBezTo>
                  <a:cubicBezTo>
                    <a:pt x="52100" y="11425"/>
                    <a:pt x="79683" y="0"/>
                    <a:pt x="1084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770050" cy="254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-5400000">
            <a:off x="8482833" y="8854458"/>
            <a:ext cx="1499312" cy="807684"/>
          </a:xfrm>
          <a:custGeom>
            <a:avLst/>
            <a:gdLst/>
            <a:ahLst/>
            <a:cxnLst/>
            <a:rect l="l" t="t" r="r" b="b"/>
            <a:pathLst>
              <a:path w="1499312" h="807684">
                <a:moveTo>
                  <a:pt x="0" y="0"/>
                </a:moveTo>
                <a:lnTo>
                  <a:pt x="1499312" y="0"/>
                </a:lnTo>
                <a:lnTo>
                  <a:pt x="1499312" y="807684"/>
                </a:lnTo>
                <a:lnTo>
                  <a:pt x="0" y="807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2040931" y="8025045"/>
            <a:ext cx="496095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Reduces travel and associated costs for patients.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40931" y="7506372"/>
            <a:ext cx="4960953" cy="51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Cost-Effective</a:t>
            </a:r>
          </a:p>
        </p:txBody>
      </p:sp>
      <p:grpSp>
        <p:nvGrpSpPr>
          <p:cNvPr id="51" name="Group 2">
            <a:extLst>
              <a:ext uri="{FF2B5EF4-FFF2-40B4-BE49-F238E27FC236}">
                <a16:creationId xmlns:a16="http://schemas.microsoft.com/office/drawing/2014/main" id="{E0BDA88E-A6E1-D44C-D560-CD152C3A4D3E}"/>
              </a:ext>
            </a:extLst>
          </p:cNvPr>
          <p:cNvGrpSpPr/>
          <p:nvPr/>
        </p:nvGrpSpPr>
        <p:grpSpPr>
          <a:xfrm>
            <a:off x="-358504" y="954773"/>
            <a:ext cx="13445337" cy="1757917"/>
            <a:chOff x="0" y="-49748"/>
            <a:chExt cx="3541159" cy="462991"/>
          </a:xfrm>
        </p:grpSpPr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88102927-5020-71A9-17F7-2FA255C2073A}"/>
                </a:ext>
              </a:extLst>
            </p:cNvPr>
            <p:cNvSpPr/>
            <p:nvPr/>
          </p:nvSpPr>
          <p:spPr>
            <a:xfrm>
              <a:off x="94421" y="-49748"/>
              <a:ext cx="3446738" cy="413243"/>
            </a:xfrm>
            <a:custGeom>
              <a:avLst/>
              <a:gdLst/>
              <a:ahLst/>
              <a:cxnLst/>
              <a:rect l="l" t="t" r="r" b="b"/>
              <a:pathLst>
                <a:path w="3446738" h="413243">
                  <a:moveTo>
                    <a:pt x="59158" y="0"/>
                  </a:moveTo>
                  <a:lnTo>
                    <a:pt x="3387580" y="0"/>
                  </a:lnTo>
                  <a:cubicBezTo>
                    <a:pt x="3420252" y="0"/>
                    <a:pt x="3446738" y="26486"/>
                    <a:pt x="3446738" y="59158"/>
                  </a:cubicBezTo>
                  <a:lnTo>
                    <a:pt x="3446738" y="354084"/>
                  </a:lnTo>
                  <a:cubicBezTo>
                    <a:pt x="3446738" y="369774"/>
                    <a:pt x="3440505" y="384821"/>
                    <a:pt x="3429411" y="395916"/>
                  </a:cubicBezTo>
                  <a:cubicBezTo>
                    <a:pt x="3418317" y="407010"/>
                    <a:pt x="3403269" y="413243"/>
                    <a:pt x="3387580" y="413243"/>
                  </a:cubicBezTo>
                  <a:lnTo>
                    <a:pt x="59158" y="413243"/>
                  </a:lnTo>
                  <a:cubicBezTo>
                    <a:pt x="26486" y="413243"/>
                    <a:pt x="0" y="386757"/>
                    <a:pt x="0" y="354084"/>
                  </a:cubicBezTo>
                  <a:lnTo>
                    <a:pt x="0" y="59158"/>
                  </a:lnTo>
                  <a:cubicBezTo>
                    <a:pt x="0" y="26486"/>
                    <a:pt x="26486" y="0"/>
                    <a:pt x="5915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3" name="TextBox 4">
              <a:extLst>
                <a:ext uri="{FF2B5EF4-FFF2-40B4-BE49-F238E27FC236}">
                  <a16:creationId xmlns:a16="http://schemas.microsoft.com/office/drawing/2014/main" id="{27DFDAB8-C578-C544-D4EA-2796358E880B}"/>
                </a:ext>
              </a:extLst>
            </p:cNvPr>
            <p:cNvSpPr txBox="1"/>
            <p:nvPr/>
          </p:nvSpPr>
          <p:spPr>
            <a:xfrm>
              <a:off x="0" y="-38100"/>
              <a:ext cx="3446738" cy="45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C8206D4E-F67F-E230-8ADA-F77D85A925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47"/>
          <a:stretch/>
        </p:blipFill>
        <p:spPr>
          <a:xfrm>
            <a:off x="897275" y="3282246"/>
            <a:ext cx="15300098" cy="5037511"/>
          </a:xfrm>
          <a:prstGeom prst="rect">
            <a:avLst/>
          </a:prstGeom>
        </p:spPr>
      </p:pic>
      <p:sp>
        <p:nvSpPr>
          <p:cNvPr id="55" name="TextBox 11">
            <a:extLst>
              <a:ext uri="{FF2B5EF4-FFF2-40B4-BE49-F238E27FC236}">
                <a16:creationId xmlns:a16="http://schemas.microsoft.com/office/drawing/2014/main" id="{FF0EF56E-F3BD-9FC3-C89C-67307B99572B}"/>
              </a:ext>
            </a:extLst>
          </p:cNvPr>
          <p:cNvSpPr txBox="1"/>
          <p:nvPr/>
        </p:nvSpPr>
        <p:spPr>
          <a:xfrm>
            <a:off x="495489" y="1328387"/>
            <a:ext cx="8051835" cy="10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0"/>
              </a:lnSpc>
            </a:pPr>
            <a:r>
              <a:rPr lang="en-US" sz="7322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Gantt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678145" y="-408945"/>
            <a:ext cx="10687604" cy="817891"/>
            <a:chOff x="0" y="0"/>
            <a:chExt cx="3131837" cy="2396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31837" cy="239670"/>
            </a:xfrm>
            <a:custGeom>
              <a:avLst/>
              <a:gdLst/>
              <a:ahLst/>
              <a:cxnLst/>
              <a:rect l="l" t="t" r="r" b="b"/>
              <a:pathLst>
                <a:path w="3131837" h="239670">
                  <a:moveTo>
                    <a:pt x="72438" y="0"/>
                  </a:moveTo>
                  <a:lnTo>
                    <a:pt x="3059399" y="0"/>
                  </a:lnTo>
                  <a:cubicBezTo>
                    <a:pt x="3078611" y="0"/>
                    <a:pt x="3097035" y="7632"/>
                    <a:pt x="3110620" y="21217"/>
                  </a:cubicBezTo>
                  <a:cubicBezTo>
                    <a:pt x="3124205" y="34802"/>
                    <a:pt x="3131837" y="53226"/>
                    <a:pt x="3131837" y="72438"/>
                  </a:cubicBezTo>
                  <a:lnTo>
                    <a:pt x="3131837" y="167232"/>
                  </a:lnTo>
                  <a:cubicBezTo>
                    <a:pt x="3131837" y="186444"/>
                    <a:pt x="3124205" y="204869"/>
                    <a:pt x="3110620" y="218454"/>
                  </a:cubicBezTo>
                  <a:cubicBezTo>
                    <a:pt x="3097035" y="232038"/>
                    <a:pt x="3078611" y="239670"/>
                    <a:pt x="3059399" y="239670"/>
                  </a:cubicBezTo>
                  <a:lnTo>
                    <a:pt x="72438" y="239670"/>
                  </a:lnTo>
                  <a:cubicBezTo>
                    <a:pt x="53226" y="239670"/>
                    <a:pt x="34802" y="232038"/>
                    <a:pt x="21217" y="218454"/>
                  </a:cubicBezTo>
                  <a:cubicBezTo>
                    <a:pt x="7632" y="204869"/>
                    <a:pt x="0" y="186444"/>
                    <a:pt x="0" y="167232"/>
                  </a:cubicBezTo>
                  <a:lnTo>
                    <a:pt x="0" y="72438"/>
                  </a:lnTo>
                  <a:cubicBezTo>
                    <a:pt x="0" y="53226"/>
                    <a:pt x="7632" y="34802"/>
                    <a:pt x="21217" y="21217"/>
                  </a:cubicBezTo>
                  <a:cubicBezTo>
                    <a:pt x="34802" y="7632"/>
                    <a:pt x="53226" y="0"/>
                    <a:pt x="724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131837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5415800" y="9878684"/>
            <a:ext cx="8886648" cy="1076631"/>
            <a:chOff x="0" y="0"/>
            <a:chExt cx="2340516" cy="2835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40516" cy="283557"/>
            </a:xfrm>
            <a:custGeom>
              <a:avLst/>
              <a:gdLst/>
              <a:ahLst/>
              <a:cxnLst/>
              <a:rect l="l" t="t" r="r" b="b"/>
              <a:pathLst>
                <a:path w="2340516" h="283557">
                  <a:moveTo>
                    <a:pt x="87119" y="0"/>
                  </a:moveTo>
                  <a:lnTo>
                    <a:pt x="2253398" y="0"/>
                  </a:lnTo>
                  <a:cubicBezTo>
                    <a:pt x="2276503" y="0"/>
                    <a:pt x="2298662" y="9179"/>
                    <a:pt x="2315000" y="25516"/>
                  </a:cubicBezTo>
                  <a:cubicBezTo>
                    <a:pt x="2331338" y="41854"/>
                    <a:pt x="2340516" y="64013"/>
                    <a:pt x="2340516" y="87119"/>
                  </a:cubicBezTo>
                  <a:lnTo>
                    <a:pt x="2340516" y="196438"/>
                  </a:lnTo>
                  <a:cubicBezTo>
                    <a:pt x="2340516" y="244553"/>
                    <a:pt x="2301512" y="283557"/>
                    <a:pt x="2253398" y="283557"/>
                  </a:cubicBezTo>
                  <a:lnTo>
                    <a:pt x="87119" y="283557"/>
                  </a:lnTo>
                  <a:cubicBezTo>
                    <a:pt x="64013" y="283557"/>
                    <a:pt x="41854" y="274379"/>
                    <a:pt x="25516" y="258041"/>
                  </a:cubicBezTo>
                  <a:cubicBezTo>
                    <a:pt x="9179" y="241703"/>
                    <a:pt x="0" y="219544"/>
                    <a:pt x="0" y="196438"/>
                  </a:cubicBezTo>
                  <a:lnTo>
                    <a:pt x="0" y="87119"/>
                  </a:lnTo>
                  <a:cubicBezTo>
                    <a:pt x="0" y="64013"/>
                    <a:pt x="9179" y="41854"/>
                    <a:pt x="25516" y="25516"/>
                  </a:cubicBezTo>
                  <a:cubicBezTo>
                    <a:pt x="41854" y="9179"/>
                    <a:pt x="64013" y="0"/>
                    <a:pt x="871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340516" cy="321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0"/>
            <a:ext cx="4401494" cy="10287000"/>
            <a:chOff x="0" y="0"/>
            <a:chExt cx="1159241" cy="27093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59241" cy="2709333"/>
            </a:xfrm>
            <a:custGeom>
              <a:avLst/>
              <a:gdLst/>
              <a:ahLst/>
              <a:cxnLst/>
              <a:rect l="l" t="t" r="r" b="b"/>
              <a:pathLst>
                <a:path w="1159241" h="2709333">
                  <a:moveTo>
                    <a:pt x="0" y="0"/>
                  </a:moveTo>
                  <a:lnTo>
                    <a:pt x="1159241" y="0"/>
                  </a:lnTo>
                  <a:lnTo>
                    <a:pt x="1159241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159241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-5400000">
            <a:off x="726897" y="1573936"/>
            <a:ext cx="1308499" cy="704893"/>
          </a:xfrm>
          <a:custGeom>
            <a:avLst/>
            <a:gdLst/>
            <a:ahLst/>
            <a:cxnLst/>
            <a:rect l="l" t="t" r="r" b="b"/>
            <a:pathLst>
              <a:path w="1308499" h="704893">
                <a:moveTo>
                  <a:pt x="0" y="0"/>
                </a:moveTo>
                <a:lnTo>
                  <a:pt x="1308499" y="0"/>
                </a:lnTo>
                <a:lnTo>
                  <a:pt x="1308499" y="704894"/>
                </a:lnTo>
                <a:lnTo>
                  <a:pt x="0" y="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6174506" y="8937437"/>
            <a:ext cx="1191242" cy="641726"/>
          </a:xfrm>
          <a:custGeom>
            <a:avLst/>
            <a:gdLst/>
            <a:ahLst/>
            <a:cxnLst/>
            <a:rect l="l" t="t" r="r" b="b"/>
            <a:pathLst>
              <a:path w="1191242" h="641726">
                <a:moveTo>
                  <a:pt x="0" y="0"/>
                </a:moveTo>
                <a:lnTo>
                  <a:pt x="1191242" y="0"/>
                </a:lnTo>
                <a:lnTo>
                  <a:pt x="1191242" y="641726"/>
                </a:lnTo>
                <a:lnTo>
                  <a:pt x="0" y="641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10210800" y="682677"/>
            <a:ext cx="7666901" cy="1897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63"/>
              </a:lnSpc>
            </a:pPr>
            <a:r>
              <a:rPr lang="en-US" sz="6403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 Description</a:t>
            </a:r>
          </a:p>
          <a:p>
            <a:pPr algn="l">
              <a:lnSpc>
                <a:spcPts val="7363"/>
              </a:lnSpc>
            </a:pPr>
            <a:endParaRPr lang="en-US" sz="6403" b="1" dirty="0">
              <a:solidFill>
                <a:srgbClr val="0453B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37243" y="3918008"/>
            <a:ext cx="6934200" cy="47397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/>
              <a:t>Source:</a:t>
            </a:r>
            <a:r>
              <a:rPr lang="en-IN" sz="2800" dirty="0"/>
              <a:t> Medicare Part D Prescriber Data (publicly available dataset).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/>
              <a:t>Key Columns:</a:t>
            </a:r>
            <a:r>
              <a:rPr lang="en-IN" sz="2800" dirty="0"/>
              <a:t>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800" dirty="0" err="1"/>
              <a:t>Prscrbr_NPI</a:t>
            </a:r>
            <a:r>
              <a:rPr lang="en-IN" sz="2800" dirty="0"/>
              <a:t>: National Provider Identifier (unique prescriber ID).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800" dirty="0" err="1"/>
              <a:t>Prscrbr_Full_Name</a:t>
            </a:r>
            <a:r>
              <a:rPr lang="en-IN" sz="2800" dirty="0"/>
              <a:t>, </a:t>
            </a:r>
            <a:r>
              <a:rPr lang="en-IN" sz="2800" dirty="0" err="1"/>
              <a:t>Prscrbr_City</a:t>
            </a:r>
            <a:r>
              <a:rPr lang="en-IN" sz="2800" dirty="0"/>
              <a:t>, </a:t>
            </a:r>
            <a:r>
              <a:rPr lang="en-IN" sz="2800" dirty="0" err="1"/>
              <a:t>Prscrbr_State_Abrvtn</a:t>
            </a:r>
            <a:r>
              <a:rPr lang="en-IN" sz="2800" dirty="0"/>
              <a:t>: Prescriber details.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800" dirty="0" err="1"/>
              <a:t>Tot_Clms</a:t>
            </a:r>
            <a:r>
              <a:rPr lang="en-IN" sz="2800" dirty="0"/>
              <a:t>, </a:t>
            </a:r>
            <a:r>
              <a:rPr lang="en-IN" sz="2800" dirty="0" err="1"/>
              <a:t>Tot_Drug_Cst</a:t>
            </a:r>
            <a:r>
              <a:rPr lang="en-IN" sz="2800" dirty="0"/>
              <a:t>: Total claims and drug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/>
              <a:t>Initial Size:</a:t>
            </a:r>
            <a:r>
              <a:rPr lang="en-IN" sz="2800" dirty="0"/>
              <a:t> 1,048,575 rows, 22 columns.</a:t>
            </a:r>
          </a:p>
        </p:txBody>
      </p:sp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3B26FC-736D-6B99-9F81-66BD1A320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33" y="985395"/>
            <a:ext cx="8938833" cy="4151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2071123" y="5628307"/>
            <a:ext cx="6894059" cy="1474397"/>
            <a:chOff x="0" y="0"/>
            <a:chExt cx="190026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2187914" y="5511516"/>
            <a:ext cx="1474397" cy="1707979"/>
            <a:chOff x="0" y="0"/>
            <a:chExt cx="660400" cy="7650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2071122" y="7398913"/>
            <a:ext cx="6894059" cy="1789316"/>
            <a:chOff x="0" y="0"/>
            <a:chExt cx="1900265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2030456" y="7439580"/>
            <a:ext cx="1789314" cy="1707979"/>
            <a:chOff x="0" y="0"/>
            <a:chExt cx="660400" cy="7650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9280660" y="5628307"/>
            <a:ext cx="6894059" cy="1474397"/>
            <a:chOff x="0" y="0"/>
            <a:chExt cx="1900265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9280658" y="7398912"/>
            <a:ext cx="7677415" cy="1789314"/>
            <a:chOff x="0" y="0"/>
            <a:chExt cx="1900265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9397451" y="5511516"/>
            <a:ext cx="1474397" cy="1707979"/>
            <a:chOff x="0" y="0"/>
            <a:chExt cx="660400" cy="7650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9239994" y="7439579"/>
            <a:ext cx="1789312" cy="1707979"/>
            <a:chOff x="0" y="0"/>
            <a:chExt cx="660400" cy="7650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5400000">
            <a:off x="23892" y="6669599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rot="-5400000">
            <a:off x="16653983" y="812907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" name="Group 28"/>
          <p:cNvGrpSpPr/>
          <p:nvPr/>
        </p:nvGrpSpPr>
        <p:grpSpPr>
          <a:xfrm rot="-10800000">
            <a:off x="8175770" y="9787711"/>
            <a:ext cx="10817079" cy="518339"/>
            <a:chOff x="0" y="0"/>
            <a:chExt cx="2848943" cy="13651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48943" cy="136517"/>
            </a:xfrm>
            <a:custGeom>
              <a:avLst/>
              <a:gdLst/>
              <a:ahLst/>
              <a:cxnLst/>
              <a:rect l="l" t="t" r="r" b="b"/>
              <a:pathLst>
                <a:path w="2848943" h="136517">
                  <a:moveTo>
                    <a:pt x="68259" y="0"/>
                  </a:moveTo>
                  <a:lnTo>
                    <a:pt x="2780684" y="0"/>
                  </a:lnTo>
                  <a:cubicBezTo>
                    <a:pt x="2798787" y="0"/>
                    <a:pt x="2816149" y="7192"/>
                    <a:pt x="2828950" y="19992"/>
                  </a:cubicBezTo>
                  <a:cubicBezTo>
                    <a:pt x="2841751" y="32793"/>
                    <a:pt x="2848943" y="50155"/>
                    <a:pt x="2848943" y="68259"/>
                  </a:cubicBezTo>
                  <a:lnTo>
                    <a:pt x="2848943" y="68259"/>
                  </a:lnTo>
                  <a:cubicBezTo>
                    <a:pt x="2848943" y="86362"/>
                    <a:pt x="2841751" y="103724"/>
                    <a:pt x="2828950" y="116525"/>
                  </a:cubicBezTo>
                  <a:cubicBezTo>
                    <a:pt x="2816149" y="129326"/>
                    <a:pt x="2798787" y="136517"/>
                    <a:pt x="2780684" y="136517"/>
                  </a:cubicBezTo>
                  <a:lnTo>
                    <a:pt x="68259" y="136517"/>
                  </a:lnTo>
                  <a:cubicBezTo>
                    <a:pt x="50155" y="136517"/>
                    <a:pt x="32793" y="129326"/>
                    <a:pt x="19992" y="116525"/>
                  </a:cubicBezTo>
                  <a:cubicBezTo>
                    <a:pt x="7192" y="103724"/>
                    <a:pt x="0" y="86362"/>
                    <a:pt x="0" y="68259"/>
                  </a:cubicBezTo>
                  <a:lnTo>
                    <a:pt x="0" y="68259"/>
                  </a:lnTo>
                  <a:cubicBezTo>
                    <a:pt x="0" y="50155"/>
                    <a:pt x="7192" y="32793"/>
                    <a:pt x="19992" y="19992"/>
                  </a:cubicBezTo>
                  <a:cubicBezTo>
                    <a:pt x="32793" y="7192"/>
                    <a:pt x="50155" y="0"/>
                    <a:pt x="682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848943" cy="17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-10800000">
            <a:off x="-1871343" y="-9525"/>
            <a:ext cx="8505674" cy="518339"/>
            <a:chOff x="0" y="0"/>
            <a:chExt cx="2240178" cy="13651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40178" cy="136517"/>
            </a:xfrm>
            <a:custGeom>
              <a:avLst/>
              <a:gdLst/>
              <a:ahLst/>
              <a:cxnLst/>
              <a:rect l="l" t="t" r="r" b="b"/>
              <a:pathLst>
                <a:path w="2240178" h="136517">
                  <a:moveTo>
                    <a:pt x="68259" y="0"/>
                  </a:moveTo>
                  <a:lnTo>
                    <a:pt x="2171919" y="0"/>
                  </a:lnTo>
                  <a:cubicBezTo>
                    <a:pt x="2190022" y="0"/>
                    <a:pt x="2207384" y="7192"/>
                    <a:pt x="2220185" y="19992"/>
                  </a:cubicBezTo>
                  <a:cubicBezTo>
                    <a:pt x="2232986" y="32793"/>
                    <a:pt x="2240178" y="50155"/>
                    <a:pt x="2240178" y="68259"/>
                  </a:cubicBezTo>
                  <a:lnTo>
                    <a:pt x="2240178" y="68259"/>
                  </a:lnTo>
                  <a:cubicBezTo>
                    <a:pt x="2240178" y="86362"/>
                    <a:pt x="2232986" y="103724"/>
                    <a:pt x="2220185" y="116525"/>
                  </a:cubicBezTo>
                  <a:cubicBezTo>
                    <a:pt x="2207384" y="129326"/>
                    <a:pt x="2190022" y="136517"/>
                    <a:pt x="2171919" y="136517"/>
                  </a:cubicBezTo>
                  <a:lnTo>
                    <a:pt x="68259" y="136517"/>
                  </a:lnTo>
                  <a:cubicBezTo>
                    <a:pt x="50155" y="136517"/>
                    <a:pt x="32793" y="129326"/>
                    <a:pt x="19992" y="116525"/>
                  </a:cubicBezTo>
                  <a:cubicBezTo>
                    <a:pt x="7192" y="103724"/>
                    <a:pt x="0" y="86362"/>
                    <a:pt x="0" y="68259"/>
                  </a:cubicBezTo>
                  <a:lnTo>
                    <a:pt x="0" y="68259"/>
                  </a:lnTo>
                  <a:cubicBezTo>
                    <a:pt x="0" y="50155"/>
                    <a:pt x="7192" y="32793"/>
                    <a:pt x="19992" y="19992"/>
                  </a:cubicBezTo>
                  <a:cubicBezTo>
                    <a:pt x="32793" y="7192"/>
                    <a:pt x="50155" y="0"/>
                    <a:pt x="682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240178" cy="17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19200" y="2184803"/>
            <a:ext cx="7121135" cy="1821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7"/>
              </a:lnSpc>
            </a:pPr>
            <a:r>
              <a:rPr lang="en-US" sz="6206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Data Preprocessing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42006" y="6234240"/>
            <a:ext cx="4631776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302965" y="6234240"/>
            <a:ext cx="4603541" cy="83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 duplicates, reducing the dataset size to 1,048,575 rows and 22 columns.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35048" y="8306393"/>
            <a:ext cx="5030133" cy="1007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 missing values in numeric columns (e.g.,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Tot_Clms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Tot_Drug_Cst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with 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Replaced negative values with 0 using clip(lower=0).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302965" y="8059912"/>
            <a:ext cx="4631776" cy="830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columns like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Prscrbr_State_Abrvtn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Prscrbr_Type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(uppercase, stripped whitespace).</a:t>
            </a: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042006" y="5741102"/>
            <a:ext cx="4631776" cy="92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Load the Dataset </a:t>
            </a:r>
          </a:p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2965" y="5741102"/>
            <a:ext cx="4603541" cy="45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Remove Duplicates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919808" y="7446577"/>
            <a:ext cx="4738733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Handle Missing and Invalid values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144585" y="7565698"/>
            <a:ext cx="5974597" cy="451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Standardize categorical columns </a:t>
            </a: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F4545DDE-5EEB-73FD-0319-C279D1B35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TextBox 42">
            <a:extLst>
              <a:ext uri="{FF2B5EF4-FFF2-40B4-BE49-F238E27FC236}">
                <a16:creationId xmlns:a16="http://schemas.microsoft.com/office/drawing/2014/main" id="{3B56BFC5-2DD7-26A7-A810-CB7E1A6F11D3}"/>
              </a:ext>
            </a:extLst>
          </p:cNvPr>
          <p:cNvSpPr txBox="1"/>
          <p:nvPr/>
        </p:nvSpPr>
        <p:spPr>
          <a:xfrm>
            <a:off x="4042006" y="6198726"/>
            <a:ext cx="4631776" cy="1007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Uploaded fully_cleaned_data.csv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google.colab.files.upload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 into a pandas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6FDAF20-ED17-36BB-FCA0-6213C556C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720" y="439345"/>
            <a:ext cx="7121135" cy="48915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E8F2-0072-4113-C7CB-ECA5C23A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2C9535-2674-7AF9-BE7D-CEAD8DA09DB0}"/>
              </a:ext>
            </a:extLst>
          </p:cNvPr>
          <p:cNvGrpSpPr/>
          <p:nvPr/>
        </p:nvGrpSpPr>
        <p:grpSpPr>
          <a:xfrm rot="-10800000">
            <a:off x="2071123" y="5628307"/>
            <a:ext cx="6894059" cy="1474397"/>
            <a:chOff x="0" y="0"/>
            <a:chExt cx="1900265" cy="40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7E56B84-8AD8-9481-E5CB-D75CBA2BB0DA}"/>
                </a:ext>
              </a:extLst>
            </p:cNvPr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623D91-7245-9DB1-AFDB-D9ADF7C7110C}"/>
                </a:ext>
              </a:extLst>
            </p:cNvPr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4150DAF-1F8C-7A02-8744-EC9358D3485A}"/>
              </a:ext>
            </a:extLst>
          </p:cNvPr>
          <p:cNvGrpSpPr/>
          <p:nvPr/>
        </p:nvGrpSpPr>
        <p:grpSpPr>
          <a:xfrm rot="-5400000">
            <a:off x="2187914" y="5511516"/>
            <a:ext cx="1474397" cy="1707979"/>
            <a:chOff x="0" y="0"/>
            <a:chExt cx="660400" cy="76502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9DD750-6074-29D9-9DCD-5B2931938005}"/>
                </a:ext>
              </a:extLst>
            </p:cNvPr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09AA40-EE05-94A3-30D0-9AB1C8E3E3EA}"/>
                </a:ext>
              </a:extLst>
            </p:cNvPr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D5CFE61-13A5-BC1A-7BA4-BB984654DCF3}"/>
              </a:ext>
            </a:extLst>
          </p:cNvPr>
          <p:cNvGrpSpPr/>
          <p:nvPr/>
        </p:nvGrpSpPr>
        <p:grpSpPr>
          <a:xfrm rot="-10800000">
            <a:off x="2071122" y="7398913"/>
            <a:ext cx="6894059" cy="1789316"/>
            <a:chOff x="0" y="0"/>
            <a:chExt cx="1900265" cy="406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09A473B-E777-D610-42F6-E34E820518C4}"/>
                </a:ext>
              </a:extLst>
            </p:cNvPr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4E8810A-0219-C460-5269-5D591232C910}"/>
                </a:ext>
              </a:extLst>
            </p:cNvPr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8D926F5-6086-E054-49F5-4CB275F02853}"/>
              </a:ext>
            </a:extLst>
          </p:cNvPr>
          <p:cNvGrpSpPr/>
          <p:nvPr/>
        </p:nvGrpSpPr>
        <p:grpSpPr>
          <a:xfrm rot="-5400000">
            <a:off x="2030456" y="7439580"/>
            <a:ext cx="1789314" cy="1707979"/>
            <a:chOff x="0" y="0"/>
            <a:chExt cx="660400" cy="76502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88EA58-3969-0D75-2A21-BB88CA6D7CF4}"/>
                </a:ext>
              </a:extLst>
            </p:cNvPr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C57061E-DDB9-09EC-86A9-A914500B02A2}"/>
                </a:ext>
              </a:extLst>
            </p:cNvPr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93AB60A-B5D1-DF9C-1195-E52EC77ACAC1}"/>
              </a:ext>
            </a:extLst>
          </p:cNvPr>
          <p:cNvGrpSpPr/>
          <p:nvPr/>
        </p:nvGrpSpPr>
        <p:grpSpPr>
          <a:xfrm rot="-10800000">
            <a:off x="9280660" y="5628307"/>
            <a:ext cx="6894059" cy="1474397"/>
            <a:chOff x="0" y="0"/>
            <a:chExt cx="1900265" cy="406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53326D8-3B29-97C9-98F2-59824C41CA75}"/>
                </a:ext>
              </a:extLst>
            </p:cNvPr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2DBC055-C327-E2FA-FEC9-9D07674B041D}"/>
                </a:ext>
              </a:extLst>
            </p:cNvPr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91BE6C-1E48-C114-E23B-E72771878B17}"/>
              </a:ext>
            </a:extLst>
          </p:cNvPr>
          <p:cNvGrpSpPr/>
          <p:nvPr/>
        </p:nvGrpSpPr>
        <p:grpSpPr>
          <a:xfrm rot="-10800000">
            <a:off x="9280658" y="7398912"/>
            <a:ext cx="7677415" cy="1789314"/>
            <a:chOff x="0" y="0"/>
            <a:chExt cx="1900265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21256E2-497C-D4DD-1472-05103D21B2FD}"/>
                </a:ext>
              </a:extLst>
            </p:cNvPr>
            <p:cNvSpPr/>
            <p:nvPr/>
          </p:nvSpPr>
          <p:spPr>
            <a:xfrm>
              <a:off x="0" y="0"/>
              <a:ext cx="1900265" cy="406400"/>
            </a:xfrm>
            <a:custGeom>
              <a:avLst/>
              <a:gdLst/>
              <a:ahLst/>
              <a:cxnLst/>
              <a:rect l="l" t="t" r="r" b="b"/>
              <a:pathLst>
                <a:path w="1900265" h="406400">
                  <a:moveTo>
                    <a:pt x="1697065" y="0"/>
                  </a:moveTo>
                  <a:cubicBezTo>
                    <a:pt x="1809289" y="0"/>
                    <a:pt x="1900265" y="90976"/>
                    <a:pt x="1900265" y="203200"/>
                  </a:cubicBezTo>
                  <a:cubicBezTo>
                    <a:pt x="1900265" y="315424"/>
                    <a:pt x="1809289" y="406400"/>
                    <a:pt x="16970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435F8F0-0D1A-9A08-B5AF-D95EFDDFA06C}"/>
                </a:ext>
              </a:extLst>
            </p:cNvPr>
            <p:cNvSpPr txBox="1"/>
            <p:nvPr/>
          </p:nvSpPr>
          <p:spPr>
            <a:xfrm>
              <a:off x="0" y="-57150"/>
              <a:ext cx="1900265" cy="463550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7DFF431-C41A-26F5-7F19-2BE181B29DE2}"/>
              </a:ext>
            </a:extLst>
          </p:cNvPr>
          <p:cNvGrpSpPr/>
          <p:nvPr/>
        </p:nvGrpSpPr>
        <p:grpSpPr>
          <a:xfrm rot="-5400000">
            <a:off x="9397451" y="5511516"/>
            <a:ext cx="1474397" cy="1707979"/>
            <a:chOff x="0" y="0"/>
            <a:chExt cx="660400" cy="765024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DCB7594-4949-4D22-C5FE-85F661F8057A}"/>
                </a:ext>
              </a:extLst>
            </p:cNvPr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AB6DAA1-CDBD-FEEB-C68E-86DDEA1304DD}"/>
                </a:ext>
              </a:extLst>
            </p:cNvPr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28A5466-912F-F7C5-D5BC-6974F3ABE8F2}"/>
              </a:ext>
            </a:extLst>
          </p:cNvPr>
          <p:cNvGrpSpPr/>
          <p:nvPr/>
        </p:nvGrpSpPr>
        <p:grpSpPr>
          <a:xfrm rot="-5400000">
            <a:off x="9239994" y="7439579"/>
            <a:ext cx="1789312" cy="1707979"/>
            <a:chOff x="0" y="0"/>
            <a:chExt cx="660400" cy="765024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4BD8FEE-F2C3-0A92-D224-21D79374FE80}"/>
                </a:ext>
              </a:extLst>
            </p:cNvPr>
            <p:cNvSpPr/>
            <p:nvPr/>
          </p:nvSpPr>
          <p:spPr>
            <a:xfrm>
              <a:off x="0" y="0"/>
              <a:ext cx="660400" cy="765024"/>
            </a:xfrm>
            <a:custGeom>
              <a:avLst/>
              <a:gdLst/>
              <a:ahLst/>
              <a:cxnLst/>
              <a:rect l="l" t="t" r="r" b="b"/>
              <a:pathLst>
                <a:path w="660400" h="765024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441"/>
                  </a:cubicBezTo>
                  <a:lnTo>
                    <a:pt x="660400" y="765024"/>
                  </a:lnTo>
                  <a:lnTo>
                    <a:pt x="0" y="765024"/>
                  </a:lnTo>
                  <a:lnTo>
                    <a:pt x="0" y="3277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68ECD739-707F-D18A-00D1-417A4E6F3865}"/>
                </a:ext>
              </a:extLst>
            </p:cNvPr>
            <p:cNvSpPr txBox="1"/>
            <p:nvPr/>
          </p:nvSpPr>
          <p:spPr>
            <a:xfrm>
              <a:off x="0" y="69850"/>
              <a:ext cx="660400" cy="695174"/>
            </a:xfrm>
            <a:prstGeom prst="rect">
              <a:avLst/>
            </a:prstGeom>
          </p:spPr>
          <p:txBody>
            <a:bodyPr lIns="45141" tIns="45141" rIns="45141" bIns="45141" rtlCol="0" anchor="ctr"/>
            <a:lstStyle/>
            <a:p>
              <a:pPr marL="0" lvl="0" indent="0" algn="ctr">
                <a:lnSpc>
                  <a:spcPts val="273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6B21D8A0-AD49-4478-671B-D9F5619B2974}"/>
              </a:ext>
            </a:extLst>
          </p:cNvPr>
          <p:cNvSpPr/>
          <p:nvPr/>
        </p:nvSpPr>
        <p:spPr>
          <a:xfrm rot="-5400000">
            <a:off x="23892" y="6669599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2C4A1DE6-10E6-E02F-3CD1-4ED6D08BFDC2}"/>
              </a:ext>
            </a:extLst>
          </p:cNvPr>
          <p:cNvSpPr/>
          <p:nvPr/>
        </p:nvSpPr>
        <p:spPr>
          <a:xfrm rot="-5400000">
            <a:off x="16653983" y="812907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4A0A902-A15B-37FF-BA01-D7D6F2B9597F}"/>
              </a:ext>
            </a:extLst>
          </p:cNvPr>
          <p:cNvGrpSpPr/>
          <p:nvPr/>
        </p:nvGrpSpPr>
        <p:grpSpPr>
          <a:xfrm rot="-10800000">
            <a:off x="8175770" y="9787711"/>
            <a:ext cx="10817079" cy="518339"/>
            <a:chOff x="0" y="0"/>
            <a:chExt cx="2848943" cy="136517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8EFEEA3-D714-B5E5-3A18-B0212D754AF1}"/>
                </a:ext>
              </a:extLst>
            </p:cNvPr>
            <p:cNvSpPr/>
            <p:nvPr/>
          </p:nvSpPr>
          <p:spPr>
            <a:xfrm>
              <a:off x="0" y="0"/>
              <a:ext cx="2848943" cy="136517"/>
            </a:xfrm>
            <a:custGeom>
              <a:avLst/>
              <a:gdLst/>
              <a:ahLst/>
              <a:cxnLst/>
              <a:rect l="l" t="t" r="r" b="b"/>
              <a:pathLst>
                <a:path w="2848943" h="136517">
                  <a:moveTo>
                    <a:pt x="68259" y="0"/>
                  </a:moveTo>
                  <a:lnTo>
                    <a:pt x="2780684" y="0"/>
                  </a:lnTo>
                  <a:cubicBezTo>
                    <a:pt x="2798787" y="0"/>
                    <a:pt x="2816149" y="7192"/>
                    <a:pt x="2828950" y="19992"/>
                  </a:cubicBezTo>
                  <a:cubicBezTo>
                    <a:pt x="2841751" y="32793"/>
                    <a:pt x="2848943" y="50155"/>
                    <a:pt x="2848943" y="68259"/>
                  </a:cubicBezTo>
                  <a:lnTo>
                    <a:pt x="2848943" y="68259"/>
                  </a:lnTo>
                  <a:cubicBezTo>
                    <a:pt x="2848943" y="86362"/>
                    <a:pt x="2841751" y="103724"/>
                    <a:pt x="2828950" y="116525"/>
                  </a:cubicBezTo>
                  <a:cubicBezTo>
                    <a:pt x="2816149" y="129326"/>
                    <a:pt x="2798787" y="136517"/>
                    <a:pt x="2780684" y="136517"/>
                  </a:cubicBezTo>
                  <a:lnTo>
                    <a:pt x="68259" y="136517"/>
                  </a:lnTo>
                  <a:cubicBezTo>
                    <a:pt x="50155" y="136517"/>
                    <a:pt x="32793" y="129326"/>
                    <a:pt x="19992" y="116525"/>
                  </a:cubicBezTo>
                  <a:cubicBezTo>
                    <a:pt x="7192" y="103724"/>
                    <a:pt x="0" y="86362"/>
                    <a:pt x="0" y="68259"/>
                  </a:cubicBezTo>
                  <a:lnTo>
                    <a:pt x="0" y="68259"/>
                  </a:lnTo>
                  <a:cubicBezTo>
                    <a:pt x="0" y="50155"/>
                    <a:pt x="7192" y="32793"/>
                    <a:pt x="19992" y="19992"/>
                  </a:cubicBezTo>
                  <a:cubicBezTo>
                    <a:pt x="32793" y="7192"/>
                    <a:pt x="50155" y="0"/>
                    <a:pt x="682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A2B8ED5-1592-8E22-DA5D-8983CD396228}"/>
                </a:ext>
              </a:extLst>
            </p:cNvPr>
            <p:cNvSpPr txBox="1"/>
            <p:nvPr/>
          </p:nvSpPr>
          <p:spPr>
            <a:xfrm>
              <a:off x="0" y="-38100"/>
              <a:ext cx="2848943" cy="17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C4938C0-A7F1-80DD-EE64-F8CB7FBB7BF6}"/>
              </a:ext>
            </a:extLst>
          </p:cNvPr>
          <p:cNvGrpSpPr/>
          <p:nvPr/>
        </p:nvGrpSpPr>
        <p:grpSpPr>
          <a:xfrm rot="-10800000">
            <a:off x="-1871343" y="-9525"/>
            <a:ext cx="8505674" cy="518339"/>
            <a:chOff x="0" y="0"/>
            <a:chExt cx="2240178" cy="136517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A5B9EA9-1369-3E3B-841A-3581BFF2D925}"/>
                </a:ext>
              </a:extLst>
            </p:cNvPr>
            <p:cNvSpPr/>
            <p:nvPr/>
          </p:nvSpPr>
          <p:spPr>
            <a:xfrm>
              <a:off x="0" y="0"/>
              <a:ext cx="2240178" cy="136517"/>
            </a:xfrm>
            <a:custGeom>
              <a:avLst/>
              <a:gdLst/>
              <a:ahLst/>
              <a:cxnLst/>
              <a:rect l="l" t="t" r="r" b="b"/>
              <a:pathLst>
                <a:path w="2240178" h="136517">
                  <a:moveTo>
                    <a:pt x="68259" y="0"/>
                  </a:moveTo>
                  <a:lnTo>
                    <a:pt x="2171919" y="0"/>
                  </a:lnTo>
                  <a:cubicBezTo>
                    <a:pt x="2190022" y="0"/>
                    <a:pt x="2207384" y="7192"/>
                    <a:pt x="2220185" y="19992"/>
                  </a:cubicBezTo>
                  <a:cubicBezTo>
                    <a:pt x="2232986" y="32793"/>
                    <a:pt x="2240178" y="50155"/>
                    <a:pt x="2240178" y="68259"/>
                  </a:cubicBezTo>
                  <a:lnTo>
                    <a:pt x="2240178" y="68259"/>
                  </a:lnTo>
                  <a:cubicBezTo>
                    <a:pt x="2240178" y="86362"/>
                    <a:pt x="2232986" y="103724"/>
                    <a:pt x="2220185" y="116525"/>
                  </a:cubicBezTo>
                  <a:cubicBezTo>
                    <a:pt x="2207384" y="129326"/>
                    <a:pt x="2190022" y="136517"/>
                    <a:pt x="2171919" y="136517"/>
                  </a:cubicBezTo>
                  <a:lnTo>
                    <a:pt x="68259" y="136517"/>
                  </a:lnTo>
                  <a:cubicBezTo>
                    <a:pt x="50155" y="136517"/>
                    <a:pt x="32793" y="129326"/>
                    <a:pt x="19992" y="116525"/>
                  </a:cubicBezTo>
                  <a:cubicBezTo>
                    <a:pt x="7192" y="103724"/>
                    <a:pt x="0" y="86362"/>
                    <a:pt x="0" y="68259"/>
                  </a:cubicBezTo>
                  <a:lnTo>
                    <a:pt x="0" y="68259"/>
                  </a:lnTo>
                  <a:cubicBezTo>
                    <a:pt x="0" y="50155"/>
                    <a:pt x="7192" y="32793"/>
                    <a:pt x="19992" y="19992"/>
                  </a:cubicBezTo>
                  <a:cubicBezTo>
                    <a:pt x="32793" y="7192"/>
                    <a:pt x="50155" y="0"/>
                    <a:pt x="682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3EF67E7-0B33-17AD-DA14-623CC0B31ED2}"/>
                </a:ext>
              </a:extLst>
            </p:cNvPr>
            <p:cNvSpPr txBox="1"/>
            <p:nvPr/>
          </p:nvSpPr>
          <p:spPr>
            <a:xfrm>
              <a:off x="0" y="-38100"/>
              <a:ext cx="2240178" cy="17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F4577955-F563-FA7A-E033-DF3948FE8441}"/>
              </a:ext>
            </a:extLst>
          </p:cNvPr>
          <p:cNvSpPr txBox="1"/>
          <p:nvPr/>
        </p:nvSpPr>
        <p:spPr>
          <a:xfrm>
            <a:off x="1219200" y="2184803"/>
            <a:ext cx="7121135" cy="1821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7"/>
              </a:lnSpc>
            </a:pPr>
            <a:r>
              <a:rPr lang="en-US" sz="6206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Data Preprocessing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7768466-F3FF-C841-D94A-D04743E360C2}"/>
              </a:ext>
            </a:extLst>
          </p:cNvPr>
          <p:cNvSpPr txBox="1"/>
          <p:nvPr/>
        </p:nvSpPr>
        <p:spPr>
          <a:xfrm>
            <a:off x="4042006" y="6234240"/>
            <a:ext cx="4631776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D4D6C7B6-A674-3C93-1EB1-FEFC982758C8}"/>
              </a:ext>
            </a:extLst>
          </p:cNvPr>
          <p:cNvSpPr txBox="1"/>
          <p:nvPr/>
        </p:nvSpPr>
        <p:spPr>
          <a:xfrm>
            <a:off x="11302965" y="6234240"/>
            <a:ext cx="4603541" cy="83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dirty="0"/>
              <a:t>Grouped by </a:t>
            </a:r>
            <a:r>
              <a:rPr lang="en-US" dirty="0" err="1"/>
              <a:t>Prscrbr_NPI</a:t>
            </a:r>
            <a:r>
              <a:rPr lang="en-US" dirty="0"/>
              <a:t>, resulting in 42,673 rows (unique prescribers), 18 columns.</a:t>
            </a:r>
          </a:p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EFC36DF5-E5CC-AD45-5CB8-05C8511FE801}"/>
              </a:ext>
            </a:extLst>
          </p:cNvPr>
          <p:cNvSpPr txBox="1"/>
          <p:nvPr/>
        </p:nvSpPr>
        <p:spPr>
          <a:xfrm>
            <a:off x="3935048" y="8213900"/>
            <a:ext cx="5030133" cy="800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</a:t>
            </a:r>
            <a:r>
              <a:rPr lang="sv-SE" dirty="0"/>
              <a:t>ropped suppression flag columns (GE65_Sprsn_Flag, GE65_Bene_Sprsn_Flag)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33929419-9BD7-952E-1426-3E88DA5FD89E}"/>
              </a:ext>
            </a:extLst>
          </p:cNvPr>
          <p:cNvSpPr txBox="1"/>
          <p:nvPr/>
        </p:nvSpPr>
        <p:spPr>
          <a:xfrm>
            <a:off x="11302965" y="8059912"/>
            <a:ext cx="4631776" cy="83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dirty="0"/>
              <a:t>Calculated </a:t>
            </a:r>
            <a:r>
              <a:rPr lang="en-US" dirty="0" err="1"/>
              <a:t>Cost_Per_Claim</a:t>
            </a:r>
            <a:r>
              <a:rPr lang="en-US" dirty="0"/>
              <a:t>, </a:t>
            </a:r>
            <a:r>
              <a:rPr lang="en-US" dirty="0" err="1"/>
              <a:t>Claims_Per_Beneficiary</a:t>
            </a:r>
            <a:r>
              <a:rPr lang="en-US" dirty="0"/>
              <a:t>, GE65_Claims_Ratio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A15DAEEE-5F71-A5A9-24C0-C4580F4D58D9}"/>
              </a:ext>
            </a:extLst>
          </p:cNvPr>
          <p:cNvSpPr txBox="1"/>
          <p:nvPr/>
        </p:nvSpPr>
        <p:spPr>
          <a:xfrm>
            <a:off x="4042006" y="5741102"/>
            <a:ext cx="4631776" cy="45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Flag Outliers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EA01DAD-6302-A9BB-0581-6FAB1FC9C105}"/>
              </a:ext>
            </a:extLst>
          </p:cNvPr>
          <p:cNvSpPr txBox="1"/>
          <p:nvPr/>
        </p:nvSpPr>
        <p:spPr>
          <a:xfrm>
            <a:off x="11302965" y="5741102"/>
            <a:ext cx="4603541" cy="45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Aggregate by Prescriber 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EB749711-2F74-CF63-8262-955F56B36A51}"/>
              </a:ext>
            </a:extLst>
          </p:cNvPr>
          <p:cNvSpPr txBox="1"/>
          <p:nvPr/>
        </p:nvSpPr>
        <p:spPr>
          <a:xfrm>
            <a:off x="3919808" y="7565698"/>
            <a:ext cx="4859912" cy="451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Drop unnecessary columns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637C7A80-9EAA-394A-F012-9030073DB632}"/>
              </a:ext>
            </a:extLst>
          </p:cNvPr>
          <p:cNvSpPr txBox="1"/>
          <p:nvPr/>
        </p:nvSpPr>
        <p:spPr>
          <a:xfrm>
            <a:off x="11144585" y="7565698"/>
            <a:ext cx="5974597" cy="451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26"/>
              </a:lnSpc>
              <a:spcBef>
                <a:spcPct val="0"/>
              </a:spcBef>
            </a:pPr>
            <a:r>
              <a:rPr lang="en-US" sz="2661" b="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Model Integration </a:t>
            </a: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5F10AF34-A1EE-768A-FCD4-5E3772568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TextBox 42">
            <a:extLst>
              <a:ext uri="{FF2B5EF4-FFF2-40B4-BE49-F238E27FC236}">
                <a16:creationId xmlns:a16="http://schemas.microsoft.com/office/drawing/2014/main" id="{E647DD55-FA4B-1854-A983-25909F7ECBD1}"/>
              </a:ext>
            </a:extLst>
          </p:cNvPr>
          <p:cNvSpPr txBox="1"/>
          <p:nvPr/>
        </p:nvSpPr>
        <p:spPr>
          <a:xfrm>
            <a:off x="4033876" y="6374415"/>
            <a:ext cx="4631776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Flagged high drug costs  using a </a:t>
            </a:r>
            <a:r>
              <a:rPr lang="en-US" dirty="0" err="1"/>
              <a:t>High_Cost_Flag</a:t>
            </a:r>
            <a:r>
              <a:rPr lang="en-US" dirty="0"/>
              <a:t> column.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9CBB8A3-6467-26FB-AFCA-DC3961BCA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98261"/>
            <a:ext cx="5876995" cy="48734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33FED3A-FC93-ED37-7950-15738A1E1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6200" y="1740531"/>
            <a:ext cx="4861428" cy="37968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747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5063" y="9461658"/>
            <a:ext cx="18518127" cy="798211"/>
            <a:chOff x="0" y="0"/>
            <a:chExt cx="4877202" cy="2102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7202" cy="210228"/>
            </a:xfrm>
            <a:custGeom>
              <a:avLst/>
              <a:gdLst/>
              <a:ahLst/>
              <a:cxnLst/>
              <a:rect l="l" t="t" r="r" b="b"/>
              <a:pathLst>
                <a:path w="4877202" h="210228">
                  <a:moveTo>
                    <a:pt x="0" y="0"/>
                  </a:moveTo>
                  <a:lnTo>
                    <a:pt x="4877202" y="0"/>
                  </a:lnTo>
                  <a:lnTo>
                    <a:pt x="4877202" y="210228"/>
                  </a:lnTo>
                  <a:lnTo>
                    <a:pt x="0" y="210228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77202" cy="276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623159" y="5982924"/>
            <a:ext cx="8795598" cy="9718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20" name="Group 20"/>
          <p:cNvGrpSpPr/>
          <p:nvPr/>
        </p:nvGrpSpPr>
        <p:grpSpPr>
          <a:xfrm rot="9689905">
            <a:off x="15694893" y="2874706"/>
            <a:ext cx="5289783" cy="528978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1587174">
            <a:off x="-2587967" y="1580050"/>
            <a:ext cx="5289783" cy="528978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100875" y="259167"/>
            <a:ext cx="1384678" cy="138467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1729" y="6243643"/>
            <a:ext cx="1384678" cy="138467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791221" y="2031709"/>
            <a:ext cx="344610" cy="34461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363892" y="8024847"/>
            <a:ext cx="344610" cy="34461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5130881" y="4159153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1838693" y="4159153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0" name="Group 40"/>
          <p:cNvGrpSpPr/>
          <p:nvPr/>
        </p:nvGrpSpPr>
        <p:grpSpPr>
          <a:xfrm>
            <a:off x="349873" y="383749"/>
            <a:ext cx="2568477" cy="740016"/>
            <a:chOff x="0" y="0"/>
            <a:chExt cx="676471" cy="1949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6471" cy="194901"/>
            </a:xfrm>
            <a:custGeom>
              <a:avLst/>
              <a:gdLst/>
              <a:ahLst/>
              <a:cxnLst/>
              <a:rect l="l" t="t" r="r" b="b"/>
              <a:pathLst>
                <a:path w="676471" h="194901">
                  <a:moveTo>
                    <a:pt x="97451" y="0"/>
                  </a:moveTo>
                  <a:lnTo>
                    <a:pt x="579021" y="0"/>
                  </a:lnTo>
                  <a:cubicBezTo>
                    <a:pt x="604866" y="0"/>
                    <a:pt x="629653" y="10267"/>
                    <a:pt x="647929" y="28543"/>
                  </a:cubicBezTo>
                  <a:cubicBezTo>
                    <a:pt x="666204" y="46818"/>
                    <a:pt x="676471" y="71605"/>
                    <a:pt x="676471" y="97451"/>
                  </a:cubicBezTo>
                  <a:lnTo>
                    <a:pt x="676471" y="97451"/>
                  </a:lnTo>
                  <a:cubicBezTo>
                    <a:pt x="676471" y="151271"/>
                    <a:pt x="632841" y="194901"/>
                    <a:pt x="579021" y="194901"/>
                  </a:cubicBezTo>
                  <a:lnTo>
                    <a:pt x="97451" y="194901"/>
                  </a:lnTo>
                  <a:cubicBezTo>
                    <a:pt x="71605" y="194901"/>
                    <a:pt x="46818" y="184634"/>
                    <a:pt x="28543" y="166359"/>
                  </a:cubicBezTo>
                  <a:cubicBezTo>
                    <a:pt x="10267" y="148083"/>
                    <a:pt x="0" y="123296"/>
                    <a:pt x="0" y="97451"/>
                  </a:cubicBezTo>
                  <a:lnTo>
                    <a:pt x="0" y="97451"/>
                  </a:lnTo>
                  <a:cubicBezTo>
                    <a:pt x="0" y="71605"/>
                    <a:pt x="10267" y="46818"/>
                    <a:pt x="28543" y="28543"/>
                  </a:cubicBezTo>
                  <a:cubicBezTo>
                    <a:pt x="46818" y="10267"/>
                    <a:pt x="71605" y="0"/>
                    <a:pt x="974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60000"/>
                  </a:srgbClr>
                </a:gs>
                <a:gs pos="50000">
                  <a:srgbClr val="0151B8">
                    <a:alpha val="144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76471" cy="233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992289" y="7903458"/>
            <a:ext cx="2568477" cy="740016"/>
            <a:chOff x="0" y="0"/>
            <a:chExt cx="676471" cy="1949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76471" cy="194901"/>
            </a:xfrm>
            <a:custGeom>
              <a:avLst/>
              <a:gdLst/>
              <a:ahLst/>
              <a:cxnLst/>
              <a:rect l="l" t="t" r="r" b="b"/>
              <a:pathLst>
                <a:path w="676471" h="194901">
                  <a:moveTo>
                    <a:pt x="97451" y="0"/>
                  </a:moveTo>
                  <a:lnTo>
                    <a:pt x="579021" y="0"/>
                  </a:lnTo>
                  <a:cubicBezTo>
                    <a:pt x="604866" y="0"/>
                    <a:pt x="629653" y="10267"/>
                    <a:pt x="647929" y="28543"/>
                  </a:cubicBezTo>
                  <a:cubicBezTo>
                    <a:pt x="666204" y="46818"/>
                    <a:pt x="676471" y="71605"/>
                    <a:pt x="676471" y="97451"/>
                  </a:cubicBezTo>
                  <a:lnTo>
                    <a:pt x="676471" y="97451"/>
                  </a:lnTo>
                  <a:cubicBezTo>
                    <a:pt x="676471" y="151271"/>
                    <a:pt x="632841" y="194901"/>
                    <a:pt x="579021" y="194901"/>
                  </a:cubicBezTo>
                  <a:lnTo>
                    <a:pt x="97451" y="194901"/>
                  </a:lnTo>
                  <a:cubicBezTo>
                    <a:pt x="71605" y="194901"/>
                    <a:pt x="46818" y="184634"/>
                    <a:pt x="28543" y="166359"/>
                  </a:cubicBezTo>
                  <a:cubicBezTo>
                    <a:pt x="10267" y="148083"/>
                    <a:pt x="0" y="123296"/>
                    <a:pt x="0" y="97451"/>
                  </a:cubicBezTo>
                  <a:lnTo>
                    <a:pt x="0" y="97451"/>
                  </a:lnTo>
                  <a:cubicBezTo>
                    <a:pt x="0" y="71605"/>
                    <a:pt x="10267" y="46818"/>
                    <a:pt x="28543" y="28543"/>
                  </a:cubicBezTo>
                  <a:cubicBezTo>
                    <a:pt x="46818" y="10267"/>
                    <a:pt x="71605" y="0"/>
                    <a:pt x="974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60000"/>
                  </a:srgbClr>
                </a:gs>
                <a:gs pos="50000">
                  <a:srgbClr val="0151B8">
                    <a:alpha val="144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676471" cy="233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505FDCE-01CF-97E9-19E6-7E9BF836C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94" y="2042621"/>
            <a:ext cx="5993515" cy="3764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4B908-D358-3022-E1BC-A832ED0A7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994" y="5874763"/>
            <a:ext cx="6680474" cy="3367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BE4011-931B-B5C4-A446-E6EF229FA7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631" y="3226441"/>
            <a:ext cx="9221583" cy="3986715"/>
          </a:xfrm>
          <a:prstGeom prst="rect">
            <a:avLst/>
          </a:prstGeom>
        </p:spPr>
      </p:pic>
      <p:sp>
        <p:nvSpPr>
          <p:cNvPr id="18" name="TextBox 38">
            <a:extLst>
              <a:ext uri="{FF2B5EF4-FFF2-40B4-BE49-F238E27FC236}">
                <a16:creationId xmlns:a16="http://schemas.microsoft.com/office/drawing/2014/main" id="{C67BFC18-1159-9587-F811-D6E26019F16C}"/>
              </a:ext>
            </a:extLst>
          </p:cNvPr>
          <p:cNvSpPr txBox="1"/>
          <p:nvPr/>
        </p:nvSpPr>
        <p:spPr>
          <a:xfrm>
            <a:off x="1929504" y="326169"/>
            <a:ext cx="10596009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7"/>
              </a:lnSpc>
            </a:pPr>
            <a:r>
              <a:rPr lang="en-US" sz="6206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Visualizations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8310" y="1245776"/>
            <a:ext cx="8619082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sz="6401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Fraud Detection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66147" y="3530690"/>
            <a:ext cx="8601239" cy="3159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explored multiple models for fraud detection, including Random Forest and Isolation Forest.</a:t>
            </a:r>
          </a:p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Ultimately, we chose Isolation Forest for the web app because it’s designed for anomaly detection and works well in unsupervised settings.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73986" y="6441788"/>
            <a:ext cx="7590153" cy="58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3458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Isolation Forest Implementation </a:t>
            </a:r>
          </a:p>
        </p:txBody>
      </p:sp>
      <p:grpSp>
        <p:nvGrpSpPr>
          <p:cNvPr id="7" name="Group 7"/>
          <p:cNvGrpSpPr/>
          <p:nvPr/>
        </p:nvGrpSpPr>
        <p:grpSpPr>
          <a:xfrm rot="1865818">
            <a:off x="15792762" y="378361"/>
            <a:ext cx="5289783" cy="52897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581221">
            <a:off x="-2009996" y="6946961"/>
            <a:ext cx="5115846" cy="511584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1865818">
            <a:off x="14613177" y="606362"/>
            <a:ext cx="1384678" cy="138467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2581221">
            <a:off x="2494864" y="9214683"/>
            <a:ext cx="1298895" cy="129889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1865818">
            <a:off x="14973538" y="2620270"/>
            <a:ext cx="344610" cy="344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2581221">
            <a:off x="1390834" y="6138158"/>
            <a:ext cx="475381" cy="47538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2072617" y="7772102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5446065" y="4542363"/>
            <a:ext cx="1318426" cy="710241"/>
          </a:xfrm>
          <a:custGeom>
            <a:avLst/>
            <a:gdLst/>
            <a:ahLst/>
            <a:cxnLst/>
            <a:rect l="l" t="t" r="r" b="b"/>
            <a:pathLst>
              <a:path w="1318426" h="710241">
                <a:moveTo>
                  <a:pt x="0" y="0"/>
                </a:moveTo>
                <a:lnTo>
                  <a:pt x="1318426" y="0"/>
                </a:lnTo>
                <a:lnTo>
                  <a:pt x="1318426" y="710240"/>
                </a:lnTo>
                <a:lnTo>
                  <a:pt x="0" y="71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3A762D-68F9-C1D8-9F61-3D19E288CAA1}"/>
              </a:ext>
            </a:extLst>
          </p:cNvPr>
          <p:cNvSpPr txBox="1"/>
          <p:nvPr/>
        </p:nvSpPr>
        <p:spPr>
          <a:xfrm>
            <a:off x="8895728" y="6949501"/>
            <a:ext cx="7590152" cy="2059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Isolation Forest model uses features like </a:t>
            </a:r>
            <a:r>
              <a:rPr lang="en-US" sz="2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Tot_Clms</a:t>
            </a: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Tot_Drug_Cst</a:t>
            </a: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Avg_Cost_Per_Claim</a:t>
            </a: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2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Brand_Generic_Ratio</a:t>
            </a: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identify prescribers with unusual patterns.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A419F38-87B6-0BD8-7DDC-22271B3DA0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307"/>
          <a:stretch/>
        </p:blipFill>
        <p:spPr>
          <a:xfrm>
            <a:off x="1086896" y="6302352"/>
            <a:ext cx="7508378" cy="29394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380" y="1444839"/>
            <a:ext cx="884297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69"/>
              </a:lnSpc>
            </a:pPr>
            <a:r>
              <a:rPr lang="en-US" sz="6233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Web App Development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84929" y="3451179"/>
            <a:ext cx="598573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6000" b="1" dirty="0">
                <a:solidFill>
                  <a:schemeClr val="bg1">
                    <a:lumMod val="50000"/>
                  </a:schemeClr>
                </a:solidFill>
                <a:latin typeface="Aileron Bold" panose="020B0604020202020204" charset="0"/>
                <a:ea typeface="Poppins"/>
                <a:cs typeface="Poppins"/>
                <a:sym typeface="Poppins"/>
              </a:rPr>
              <a:t>Prescriber Fraud Analyzer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99052" y="6777328"/>
            <a:ext cx="6195235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an interactive web app using Streamlit to analyze prescriber fraud risk..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884941" y="4476924"/>
            <a:ext cx="7333405" cy="5999784"/>
            <a:chOff x="0" y="0"/>
            <a:chExt cx="1931432" cy="15801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1432" cy="1580190"/>
            </a:xfrm>
            <a:custGeom>
              <a:avLst/>
              <a:gdLst/>
              <a:ahLst/>
              <a:cxnLst/>
              <a:rect l="l" t="t" r="r" b="b"/>
              <a:pathLst>
                <a:path w="1931432" h="1580190">
                  <a:moveTo>
                    <a:pt x="0" y="0"/>
                  </a:moveTo>
                  <a:lnTo>
                    <a:pt x="1931432" y="0"/>
                  </a:lnTo>
                  <a:lnTo>
                    <a:pt x="1931432" y="1580190"/>
                  </a:lnTo>
                  <a:lnTo>
                    <a:pt x="0" y="1580190"/>
                  </a:ln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31432" cy="163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3077455">
            <a:off x="11396121" y="-300909"/>
            <a:ext cx="7076738" cy="70026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9051" tIns="29051" rIns="29051" bIns="2905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309484" y="6777328"/>
            <a:ext cx="6302999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Visualize fraud risk with gauges, maps, histograms, and leaderboards.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99052" y="8392646"/>
            <a:ext cx="6195235" cy="117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prescribers by NPI or name with flexible matching.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 by state and fraud probability range..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09484" y="8392646"/>
            <a:ext cx="6616316" cy="77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healthcare auditors to identify and investigate potentially fraudulent prescribers.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56381" y="6380848"/>
            <a:ext cx="320486" cy="32048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66813" y="6380848"/>
            <a:ext cx="320486" cy="32048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6381" y="7986641"/>
            <a:ext cx="320486" cy="32048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66813" y="7986641"/>
            <a:ext cx="320486" cy="32048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399407" y="6456695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8909839" y="6456695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1399407" y="8062488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8909839" y="8062488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1799052" y="6239605"/>
            <a:ext cx="6195235" cy="488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Objective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09484" y="6239605"/>
            <a:ext cx="6302999" cy="488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features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99052" y="7845398"/>
            <a:ext cx="6195235" cy="488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Features</a:t>
            </a:r>
            <a:endParaRPr lang="en-US" sz="2889" b="1" dirty="0">
              <a:solidFill>
                <a:srgbClr val="0453B9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309484" y="7845398"/>
            <a:ext cx="6302999" cy="488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0453B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Purpose</a:t>
            </a:r>
          </a:p>
        </p:txBody>
      </p:sp>
      <p:grpSp>
        <p:nvGrpSpPr>
          <p:cNvPr id="34" name="Group 34"/>
          <p:cNvGrpSpPr/>
          <p:nvPr/>
        </p:nvGrpSpPr>
        <p:grpSpPr>
          <a:xfrm rot="1854028">
            <a:off x="8963280" y="-1240882"/>
            <a:ext cx="13817076" cy="4846894"/>
            <a:chOff x="0" y="0"/>
            <a:chExt cx="3639065" cy="12765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39065" cy="1276548"/>
            </a:xfrm>
            <a:custGeom>
              <a:avLst/>
              <a:gdLst/>
              <a:ahLst/>
              <a:cxnLst/>
              <a:rect l="l" t="t" r="r" b="b"/>
              <a:pathLst>
                <a:path w="3639065" h="1276548">
                  <a:moveTo>
                    <a:pt x="0" y="0"/>
                  </a:moveTo>
                  <a:lnTo>
                    <a:pt x="3639065" y="0"/>
                  </a:lnTo>
                  <a:lnTo>
                    <a:pt x="3639065" y="1276548"/>
                  </a:lnTo>
                  <a:lnTo>
                    <a:pt x="0" y="1276548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3639065" cy="1333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8191885">
            <a:off x="12384402" y="-1209390"/>
            <a:ext cx="9305705" cy="4558836"/>
            <a:chOff x="0" y="0"/>
            <a:chExt cx="2450885" cy="120068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50885" cy="1200681"/>
            </a:xfrm>
            <a:custGeom>
              <a:avLst/>
              <a:gdLst/>
              <a:ahLst/>
              <a:cxnLst/>
              <a:rect l="l" t="t" r="r" b="b"/>
              <a:pathLst>
                <a:path w="2450885" h="1200681">
                  <a:moveTo>
                    <a:pt x="0" y="0"/>
                  </a:moveTo>
                  <a:lnTo>
                    <a:pt x="2450885" y="0"/>
                  </a:lnTo>
                  <a:lnTo>
                    <a:pt x="2450885" y="1200681"/>
                  </a:lnTo>
                  <a:lnTo>
                    <a:pt x="0" y="1200681"/>
                  </a:ln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100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2450885" cy="1257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42" name="Freeform 22">
            <a:extLst>
              <a:ext uri="{FF2B5EF4-FFF2-40B4-BE49-F238E27FC236}">
                <a16:creationId xmlns:a16="http://schemas.microsoft.com/office/drawing/2014/main" id="{DF9CD58F-A26B-9CAA-F56F-5278972333BE}"/>
              </a:ext>
            </a:extLst>
          </p:cNvPr>
          <p:cNvSpPr/>
          <p:nvPr/>
        </p:nvSpPr>
        <p:spPr>
          <a:xfrm>
            <a:off x="2489685" y="2464013"/>
            <a:ext cx="4283082" cy="401267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0151B8">
                  <a:alpha val="100000"/>
                </a:srgbClr>
              </a:gs>
              <a:gs pos="50000">
                <a:srgbClr val="FFFFFF">
                  <a:alpha val="24000"/>
                </a:srgbClr>
              </a:gs>
              <a:gs pos="100000">
                <a:srgbClr val="0151B8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endParaRPr lang="en-IN" dirty="0"/>
          </a:p>
        </p:txBody>
      </p:sp>
      <p:grpSp>
        <p:nvGrpSpPr>
          <p:cNvPr id="43" name="Group 16">
            <a:extLst>
              <a:ext uri="{FF2B5EF4-FFF2-40B4-BE49-F238E27FC236}">
                <a16:creationId xmlns:a16="http://schemas.microsoft.com/office/drawing/2014/main" id="{882ACAA8-4B1C-9979-54B2-1F5943F5A1E4}"/>
              </a:ext>
            </a:extLst>
          </p:cNvPr>
          <p:cNvGrpSpPr/>
          <p:nvPr/>
        </p:nvGrpSpPr>
        <p:grpSpPr>
          <a:xfrm>
            <a:off x="11571155" y="251999"/>
            <a:ext cx="6261654" cy="6261654"/>
            <a:chOff x="0" y="0"/>
            <a:chExt cx="812800" cy="812800"/>
          </a:xfrm>
        </p:grpSpPr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9DA398A1-06B2-F749-648E-275CE9593F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5780" r="-17770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7267" y="7551783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497267" y="8096911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3"/>
                </a:lnTo>
                <a:lnTo>
                  <a:pt x="0" y="168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6979895" y="0"/>
            <a:ext cx="1365255" cy="10287000"/>
            <a:chOff x="0" y="0"/>
            <a:chExt cx="359573" cy="27093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9573" cy="2709333"/>
            </a:xfrm>
            <a:custGeom>
              <a:avLst/>
              <a:gdLst/>
              <a:ahLst/>
              <a:cxnLst/>
              <a:rect l="l" t="t" r="r" b="b"/>
              <a:pathLst>
                <a:path w="359573" h="2709333">
                  <a:moveTo>
                    <a:pt x="0" y="0"/>
                  </a:moveTo>
                  <a:lnTo>
                    <a:pt x="359573" y="0"/>
                  </a:lnTo>
                  <a:lnTo>
                    <a:pt x="35957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5957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11367" y="1614053"/>
            <a:ext cx="7358388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3"/>
              </a:lnSpc>
            </a:pPr>
            <a:r>
              <a:rPr lang="en-US" sz="6403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Web App Features</a:t>
            </a:r>
          </a:p>
          <a:p>
            <a:pPr algn="l">
              <a:lnSpc>
                <a:spcPts val="7363"/>
              </a:lnSpc>
            </a:pPr>
            <a:r>
              <a:rPr lang="en-US" sz="6000" b="1" dirty="0">
                <a:solidFill>
                  <a:srgbClr val="0453B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Search and filtering content</a:t>
            </a:r>
            <a:endParaRPr lang="en-US" sz="6000" b="1" dirty="0">
              <a:solidFill>
                <a:schemeClr val="bg1">
                  <a:lumMod val="50000"/>
                </a:schemeClr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37" name="Freeform 37"/>
          <p:cNvSpPr/>
          <p:nvPr/>
        </p:nvSpPr>
        <p:spPr>
          <a:xfrm rot="-5400000">
            <a:off x="17057377" y="4822637"/>
            <a:ext cx="1191242" cy="641726"/>
          </a:xfrm>
          <a:custGeom>
            <a:avLst/>
            <a:gdLst/>
            <a:ahLst/>
            <a:cxnLst/>
            <a:rect l="l" t="t" r="r" b="b"/>
            <a:pathLst>
              <a:path w="1191242" h="641726">
                <a:moveTo>
                  <a:pt x="0" y="0"/>
                </a:moveTo>
                <a:lnTo>
                  <a:pt x="1191242" y="0"/>
                </a:lnTo>
                <a:lnTo>
                  <a:pt x="1191242" y="641726"/>
                </a:lnTo>
                <a:lnTo>
                  <a:pt x="0" y="641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8" name="Group 38"/>
          <p:cNvGrpSpPr/>
          <p:nvPr/>
        </p:nvGrpSpPr>
        <p:grpSpPr>
          <a:xfrm>
            <a:off x="6404501" y="9720110"/>
            <a:ext cx="7020469" cy="1076631"/>
            <a:chOff x="0" y="0"/>
            <a:chExt cx="1849012" cy="28355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849012" cy="283557"/>
            </a:xfrm>
            <a:custGeom>
              <a:avLst/>
              <a:gdLst/>
              <a:ahLst/>
              <a:cxnLst/>
              <a:rect l="l" t="t" r="r" b="b"/>
              <a:pathLst>
                <a:path w="1849012" h="283557">
                  <a:moveTo>
                    <a:pt x="110276" y="0"/>
                  </a:moveTo>
                  <a:lnTo>
                    <a:pt x="1738736" y="0"/>
                  </a:lnTo>
                  <a:cubicBezTo>
                    <a:pt x="1767983" y="0"/>
                    <a:pt x="1796032" y="11618"/>
                    <a:pt x="1816713" y="32299"/>
                  </a:cubicBezTo>
                  <a:cubicBezTo>
                    <a:pt x="1837394" y="52980"/>
                    <a:pt x="1849012" y="81029"/>
                    <a:pt x="1849012" y="110276"/>
                  </a:cubicBezTo>
                  <a:lnTo>
                    <a:pt x="1849012" y="173281"/>
                  </a:lnTo>
                  <a:cubicBezTo>
                    <a:pt x="1849012" y="234185"/>
                    <a:pt x="1799640" y="283557"/>
                    <a:pt x="1738736" y="283557"/>
                  </a:cubicBezTo>
                  <a:lnTo>
                    <a:pt x="110276" y="283557"/>
                  </a:lnTo>
                  <a:cubicBezTo>
                    <a:pt x="81029" y="283557"/>
                    <a:pt x="52980" y="271939"/>
                    <a:pt x="32299" y="251258"/>
                  </a:cubicBezTo>
                  <a:cubicBezTo>
                    <a:pt x="11618" y="230577"/>
                    <a:pt x="0" y="202528"/>
                    <a:pt x="0" y="173281"/>
                  </a:cubicBezTo>
                  <a:lnTo>
                    <a:pt x="0" y="110276"/>
                  </a:lnTo>
                  <a:cubicBezTo>
                    <a:pt x="0" y="81029"/>
                    <a:pt x="11618" y="52980"/>
                    <a:pt x="32299" y="32299"/>
                  </a:cubicBezTo>
                  <a:cubicBezTo>
                    <a:pt x="52980" y="11618"/>
                    <a:pt x="81029" y="0"/>
                    <a:pt x="1102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70000"/>
                  </a:srgbClr>
                </a:gs>
                <a:gs pos="50000">
                  <a:srgbClr val="0151B8">
                    <a:alpha val="168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849012" cy="321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454241" y="9501622"/>
            <a:ext cx="1046053" cy="563513"/>
          </a:xfrm>
          <a:custGeom>
            <a:avLst/>
            <a:gdLst/>
            <a:ahLst/>
            <a:cxnLst/>
            <a:rect l="l" t="t" r="r" b="b"/>
            <a:pathLst>
              <a:path w="1046053" h="563513">
                <a:moveTo>
                  <a:pt x="0" y="0"/>
                </a:moveTo>
                <a:lnTo>
                  <a:pt x="1046053" y="0"/>
                </a:lnTo>
                <a:lnTo>
                  <a:pt x="1046053" y="563512"/>
                </a:lnTo>
                <a:lnTo>
                  <a:pt x="0" y="5635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44" name="TextBox 32">
            <a:extLst>
              <a:ext uri="{FF2B5EF4-FFF2-40B4-BE49-F238E27FC236}">
                <a16:creationId xmlns:a16="http://schemas.microsoft.com/office/drawing/2014/main" id="{8ACDEE20-0E70-37A2-66B3-1FA48E56E5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523432"/>
              </p:ext>
            </p:extLst>
          </p:nvPr>
        </p:nvGraphicFramePr>
        <p:xfrm>
          <a:off x="1411367" y="4114504"/>
          <a:ext cx="10281516" cy="4904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328813" y="-3634257"/>
            <a:ext cx="3537063" cy="9253676"/>
            <a:chOff x="0" y="0"/>
            <a:chExt cx="931572" cy="24371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1572" cy="2437182"/>
            </a:xfrm>
            <a:custGeom>
              <a:avLst/>
              <a:gdLst/>
              <a:ahLst/>
              <a:cxnLst/>
              <a:rect l="l" t="t" r="r" b="b"/>
              <a:pathLst>
                <a:path w="931572" h="2437182">
                  <a:moveTo>
                    <a:pt x="218880" y="0"/>
                  </a:moveTo>
                  <a:lnTo>
                    <a:pt x="712692" y="0"/>
                  </a:lnTo>
                  <a:cubicBezTo>
                    <a:pt x="833576" y="0"/>
                    <a:pt x="931572" y="97996"/>
                    <a:pt x="931572" y="218880"/>
                  </a:cubicBezTo>
                  <a:lnTo>
                    <a:pt x="931572" y="2218302"/>
                  </a:lnTo>
                  <a:cubicBezTo>
                    <a:pt x="931572" y="2276353"/>
                    <a:pt x="908512" y="2332026"/>
                    <a:pt x="867464" y="2373074"/>
                  </a:cubicBezTo>
                  <a:cubicBezTo>
                    <a:pt x="826416" y="2414122"/>
                    <a:pt x="770743" y="2437182"/>
                    <a:pt x="712692" y="2437182"/>
                  </a:cubicBezTo>
                  <a:lnTo>
                    <a:pt x="218880" y="2437182"/>
                  </a:lnTo>
                  <a:cubicBezTo>
                    <a:pt x="160829" y="2437182"/>
                    <a:pt x="105156" y="2414122"/>
                    <a:pt x="64108" y="2373074"/>
                  </a:cubicBezTo>
                  <a:cubicBezTo>
                    <a:pt x="23060" y="2332026"/>
                    <a:pt x="0" y="2276353"/>
                    <a:pt x="0" y="2218302"/>
                  </a:cubicBezTo>
                  <a:lnTo>
                    <a:pt x="0" y="218880"/>
                  </a:lnTo>
                  <a:cubicBezTo>
                    <a:pt x="0" y="160829"/>
                    <a:pt x="23060" y="105156"/>
                    <a:pt x="64108" y="64108"/>
                  </a:cubicBezTo>
                  <a:cubicBezTo>
                    <a:pt x="105156" y="23060"/>
                    <a:pt x="160829" y="0"/>
                    <a:pt x="2188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50000"/>
                  </a:srgbClr>
                </a:gs>
                <a:gs pos="50000">
                  <a:srgbClr val="0151B8">
                    <a:alpha val="12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31572" cy="247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6463840" y="1104655"/>
            <a:ext cx="8346532" cy="3885105"/>
            <a:chOff x="0" y="0"/>
            <a:chExt cx="2198264" cy="10232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8263" cy="1023237"/>
            </a:xfrm>
            <a:custGeom>
              <a:avLst/>
              <a:gdLst/>
              <a:ahLst/>
              <a:cxnLst/>
              <a:rect l="l" t="t" r="r" b="b"/>
              <a:pathLst>
                <a:path w="2198263" h="1023237">
                  <a:moveTo>
                    <a:pt x="92756" y="0"/>
                  </a:moveTo>
                  <a:lnTo>
                    <a:pt x="2105507" y="0"/>
                  </a:lnTo>
                  <a:cubicBezTo>
                    <a:pt x="2130108" y="0"/>
                    <a:pt x="2153701" y="9772"/>
                    <a:pt x="2171096" y="27168"/>
                  </a:cubicBezTo>
                  <a:cubicBezTo>
                    <a:pt x="2188491" y="44563"/>
                    <a:pt x="2198263" y="68156"/>
                    <a:pt x="2198263" y="92756"/>
                  </a:cubicBezTo>
                  <a:lnTo>
                    <a:pt x="2198263" y="930481"/>
                  </a:lnTo>
                  <a:cubicBezTo>
                    <a:pt x="2198263" y="981709"/>
                    <a:pt x="2156735" y="1023237"/>
                    <a:pt x="2105507" y="1023237"/>
                  </a:cubicBezTo>
                  <a:lnTo>
                    <a:pt x="92756" y="1023237"/>
                  </a:lnTo>
                  <a:cubicBezTo>
                    <a:pt x="68156" y="1023237"/>
                    <a:pt x="44563" y="1013465"/>
                    <a:pt x="27168" y="996070"/>
                  </a:cubicBezTo>
                  <a:cubicBezTo>
                    <a:pt x="9772" y="978675"/>
                    <a:pt x="0" y="955082"/>
                    <a:pt x="0" y="930481"/>
                  </a:cubicBezTo>
                  <a:lnTo>
                    <a:pt x="0" y="92756"/>
                  </a:lnTo>
                  <a:cubicBezTo>
                    <a:pt x="0" y="68156"/>
                    <a:pt x="9772" y="44563"/>
                    <a:pt x="27168" y="27168"/>
                  </a:cubicBezTo>
                  <a:cubicBezTo>
                    <a:pt x="44563" y="9772"/>
                    <a:pt x="68156" y="0"/>
                    <a:pt x="927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50000"/>
                  </a:srgbClr>
                </a:gs>
                <a:gs pos="50000">
                  <a:srgbClr val="0151B8">
                    <a:alpha val="12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98264" cy="1061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697423" y="4889677"/>
            <a:ext cx="1233326" cy="664397"/>
          </a:xfrm>
          <a:custGeom>
            <a:avLst/>
            <a:gdLst/>
            <a:ahLst/>
            <a:cxnLst/>
            <a:rect l="l" t="t" r="r" b="b"/>
            <a:pathLst>
              <a:path w="1233326" h="664397">
                <a:moveTo>
                  <a:pt x="0" y="0"/>
                </a:moveTo>
                <a:lnTo>
                  <a:pt x="1233327" y="0"/>
                </a:lnTo>
                <a:lnTo>
                  <a:pt x="1233327" y="664397"/>
                </a:lnTo>
                <a:lnTo>
                  <a:pt x="0" y="664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0625361" y="956449"/>
            <a:ext cx="9077742" cy="8530853"/>
            <a:chOff x="0" y="0"/>
            <a:chExt cx="2390846" cy="22468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90846" cy="2246809"/>
            </a:xfrm>
            <a:custGeom>
              <a:avLst/>
              <a:gdLst/>
              <a:ahLst/>
              <a:cxnLst/>
              <a:rect l="l" t="t" r="r" b="b"/>
              <a:pathLst>
                <a:path w="2390846" h="2246809">
                  <a:moveTo>
                    <a:pt x="56288" y="0"/>
                  </a:moveTo>
                  <a:lnTo>
                    <a:pt x="2334558" y="0"/>
                  </a:lnTo>
                  <a:cubicBezTo>
                    <a:pt x="2349486" y="0"/>
                    <a:pt x="2363803" y="5930"/>
                    <a:pt x="2374359" y="16486"/>
                  </a:cubicBezTo>
                  <a:cubicBezTo>
                    <a:pt x="2384915" y="27042"/>
                    <a:pt x="2390846" y="41359"/>
                    <a:pt x="2390846" y="56288"/>
                  </a:cubicBezTo>
                  <a:lnTo>
                    <a:pt x="2390846" y="2190521"/>
                  </a:lnTo>
                  <a:cubicBezTo>
                    <a:pt x="2390846" y="2205450"/>
                    <a:pt x="2384915" y="2219767"/>
                    <a:pt x="2374359" y="2230323"/>
                  </a:cubicBezTo>
                  <a:cubicBezTo>
                    <a:pt x="2363803" y="2240879"/>
                    <a:pt x="2349486" y="2246809"/>
                    <a:pt x="2334558" y="2246809"/>
                  </a:cubicBezTo>
                  <a:lnTo>
                    <a:pt x="56288" y="2246809"/>
                  </a:lnTo>
                  <a:cubicBezTo>
                    <a:pt x="41359" y="2246809"/>
                    <a:pt x="27042" y="2240879"/>
                    <a:pt x="16486" y="2230323"/>
                  </a:cubicBezTo>
                  <a:cubicBezTo>
                    <a:pt x="5930" y="2219767"/>
                    <a:pt x="0" y="2205450"/>
                    <a:pt x="0" y="2190521"/>
                  </a:cubicBezTo>
                  <a:lnTo>
                    <a:pt x="0" y="56288"/>
                  </a:lnTo>
                  <a:cubicBezTo>
                    <a:pt x="0" y="41359"/>
                    <a:pt x="5930" y="27042"/>
                    <a:pt x="16486" y="16486"/>
                  </a:cubicBezTo>
                  <a:cubicBezTo>
                    <a:pt x="27042" y="5930"/>
                    <a:pt x="41359" y="0"/>
                    <a:pt x="56288" y="0"/>
                  </a:cubicBezTo>
                  <a:close/>
                </a:path>
              </a:pathLst>
            </a:custGeom>
            <a:solidFill>
              <a:srgbClr val="0453B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390846" cy="2303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1337" y="2140701"/>
            <a:ext cx="5584489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778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Web App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87182" y="4479936"/>
            <a:ext cx="501799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Monitors steps taken and calories burned throughout the day.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87182" y="6123829"/>
            <a:ext cx="501799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continuous heart rate data for better health insights.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368311" y="4102506"/>
            <a:ext cx="320486" cy="32048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1411337" y="4178353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11368311" y="5746399"/>
            <a:ext cx="320486" cy="32048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1411337" y="5822246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11887182" y="3961262"/>
            <a:ext cx="5791218" cy="488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Geographical Distribution Map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87182" y="5605155"/>
            <a:ext cx="5867418" cy="488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Fraud Probability Distribution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87182" y="7767722"/>
            <a:ext cx="501799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Tracks sleep duration and quality to improve sleep habits.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368311" y="7390292"/>
            <a:ext cx="320486" cy="320486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3649" tIns="23649" rIns="23649" bIns="23649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1411337" y="7466139"/>
            <a:ext cx="234433" cy="168792"/>
          </a:xfrm>
          <a:custGeom>
            <a:avLst/>
            <a:gdLst/>
            <a:ahLst/>
            <a:cxnLst/>
            <a:rect l="l" t="t" r="r" b="b"/>
            <a:pathLst>
              <a:path w="234433" h="168792">
                <a:moveTo>
                  <a:pt x="0" y="0"/>
                </a:moveTo>
                <a:lnTo>
                  <a:pt x="234434" y="0"/>
                </a:lnTo>
                <a:lnTo>
                  <a:pt x="234434" y="168792"/>
                </a:lnTo>
                <a:lnTo>
                  <a:pt x="0" y="168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11887182" y="7249049"/>
            <a:ext cx="6096018" cy="488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sz="288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Top Risky Prescribers Leadership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B1748CD-2F19-5663-0C12-0C8624E94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161" y="2689897"/>
            <a:ext cx="8593851" cy="43995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800770">
            <a:off x="7116031" y="1975846"/>
            <a:ext cx="4622986" cy="462298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9899" tIns="29899" rIns="29899" bIns="29899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3800770">
            <a:off x="11990941" y="1975846"/>
            <a:ext cx="4622986" cy="462298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7FB5FA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9899" tIns="29899" rIns="29899" bIns="29899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6548589" y="692032"/>
            <a:ext cx="7333405" cy="5999784"/>
            <a:chOff x="0" y="0"/>
            <a:chExt cx="1931432" cy="15801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1432" cy="1580190"/>
            </a:xfrm>
            <a:custGeom>
              <a:avLst/>
              <a:gdLst/>
              <a:ahLst/>
              <a:cxnLst/>
              <a:rect l="l" t="t" r="r" b="b"/>
              <a:pathLst>
                <a:path w="1931432" h="1580190">
                  <a:moveTo>
                    <a:pt x="105571" y="0"/>
                  </a:moveTo>
                  <a:lnTo>
                    <a:pt x="1825861" y="0"/>
                  </a:lnTo>
                  <a:cubicBezTo>
                    <a:pt x="1884166" y="0"/>
                    <a:pt x="1931432" y="47266"/>
                    <a:pt x="1931432" y="105571"/>
                  </a:cubicBezTo>
                  <a:lnTo>
                    <a:pt x="1931432" y="1474620"/>
                  </a:lnTo>
                  <a:cubicBezTo>
                    <a:pt x="1931432" y="1502619"/>
                    <a:pt x="1920309" y="1529471"/>
                    <a:pt x="1900511" y="1549269"/>
                  </a:cubicBezTo>
                  <a:cubicBezTo>
                    <a:pt x="1880713" y="1569068"/>
                    <a:pt x="1853860" y="1580190"/>
                    <a:pt x="1825861" y="1580190"/>
                  </a:cubicBezTo>
                  <a:lnTo>
                    <a:pt x="105571" y="1580190"/>
                  </a:lnTo>
                  <a:cubicBezTo>
                    <a:pt x="47266" y="1580190"/>
                    <a:pt x="0" y="1532925"/>
                    <a:pt x="0" y="1474620"/>
                  </a:cubicBezTo>
                  <a:lnTo>
                    <a:pt x="0" y="105571"/>
                  </a:lnTo>
                  <a:cubicBezTo>
                    <a:pt x="0" y="47266"/>
                    <a:pt x="47266" y="0"/>
                    <a:pt x="1055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931432" cy="163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6203733" y="-1797267"/>
            <a:ext cx="5880534" cy="18288000"/>
            <a:chOff x="0" y="0"/>
            <a:chExt cx="1548783" cy="48165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48783" cy="4816592"/>
            </a:xfrm>
            <a:custGeom>
              <a:avLst/>
              <a:gdLst/>
              <a:ahLst/>
              <a:cxnLst/>
              <a:rect l="l" t="t" r="r" b="b"/>
              <a:pathLst>
                <a:path w="1548783" h="4816592">
                  <a:moveTo>
                    <a:pt x="0" y="0"/>
                  </a:moveTo>
                  <a:lnTo>
                    <a:pt x="1548783" y="0"/>
                  </a:lnTo>
                  <a:lnTo>
                    <a:pt x="154878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548783" cy="4873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68345" y="5118463"/>
            <a:ext cx="6140679" cy="94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sz="6401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5475" y="6822328"/>
            <a:ext cx="14948860" cy="475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built a web app to analyze Medicare Part D data, using an Isolation Forest model to detect fraud. The app provides actionable insights through a user-friendly interface.</a:t>
            </a:r>
          </a:p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project shows how data analysis can identify fraud in healthcare, offering a tool for real-time monitoring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7340308" y="2200123"/>
            <a:ext cx="4174431" cy="417443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9667" r="-10144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15218" y="2200123"/>
            <a:ext cx="4174431" cy="417443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288086" y="6020476"/>
            <a:ext cx="7333405" cy="5999784"/>
            <a:chOff x="0" y="0"/>
            <a:chExt cx="1931432" cy="15801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432" cy="1580190"/>
            </a:xfrm>
            <a:custGeom>
              <a:avLst/>
              <a:gdLst/>
              <a:ahLst/>
              <a:cxnLst/>
              <a:rect l="l" t="t" r="r" b="b"/>
              <a:pathLst>
                <a:path w="1931432" h="1580190">
                  <a:moveTo>
                    <a:pt x="105571" y="0"/>
                  </a:moveTo>
                  <a:lnTo>
                    <a:pt x="1825861" y="0"/>
                  </a:lnTo>
                  <a:cubicBezTo>
                    <a:pt x="1884166" y="0"/>
                    <a:pt x="1931432" y="47266"/>
                    <a:pt x="1931432" y="105571"/>
                  </a:cubicBezTo>
                  <a:lnTo>
                    <a:pt x="1931432" y="1474620"/>
                  </a:lnTo>
                  <a:cubicBezTo>
                    <a:pt x="1931432" y="1502619"/>
                    <a:pt x="1920309" y="1529471"/>
                    <a:pt x="1900511" y="1549269"/>
                  </a:cubicBezTo>
                  <a:cubicBezTo>
                    <a:pt x="1880713" y="1569068"/>
                    <a:pt x="1853860" y="1580190"/>
                    <a:pt x="1825861" y="1580190"/>
                  </a:cubicBezTo>
                  <a:lnTo>
                    <a:pt x="105571" y="1580190"/>
                  </a:lnTo>
                  <a:cubicBezTo>
                    <a:pt x="47266" y="1580190"/>
                    <a:pt x="0" y="1532925"/>
                    <a:pt x="0" y="1474620"/>
                  </a:cubicBezTo>
                  <a:lnTo>
                    <a:pt x="0" y="105571"/>
                  </a:lnTo>
                  <a:cubicBezTo>
                    <a:pt x="0" y="47266"/>
                    <a:pt x="47266" y="0"/>
                    <a:pt x="1055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931432" cy="1637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6525104">
            <a:off x="2591299" y="-1967133"/>
            <a:ext cx="4334316" cy="433431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4022264" y="1999606"/>
            <a:ext cx="1221605" cy="658083"/>
          </a:xfrm>
          <a:custGeom>
            <a:avLst/>
            <a:gdLst/>
            <a:ahLst/>
            <a:cxnLst/>
            <a:rect l="l" t="t" r="r" b="b"/>
            <a:pathLst>
              <a:path w="1221605" h="658083">
                <a:moveTo>
                  <a:pt x="0" y="0"/>
                </a:moveTo>
                <a:lnTo>
                  <a:pt x="1221605" y="0"/>
                </a:lnTo>
                <a:lnTo>
                  <a:pt x="1221605" y="658083"/>
                </a:lnTo>
                <a:lnTo>
                  <a:pt x="0" y="658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856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oup 27"/>
          <p:cNvGrpSpPr/>
          <p:nvPr/>
        </p:nvGrpSpPr>
        <p:grpSpPr>
          <a:xfrm rot="1865818">
            <a:off x="17376942" y="1466990"/>
            <a:ext cx="1515321" cy="1515321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771</Words>
  <Application>Microsoft Office PowerPoint</Application>
  <PresentationFormat>Custom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Poppins Medium</vt:lpstr>
      <vt:lpstr>Poppins</vt:lpstr>
      <vt:lpstr>Poppins Semi-Bold</vt:lpstr>
      <vt:lpstr>Aileron Bold</vt:lpstr>
      <vt:lpstr>Wingdings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Sandra Sajimon</cp:lastModifiedBy>
  <cp:revision>6</cp:revision>
  <dcterms:created xsi:type="dcterms:W3CDTF">2006-08-16T00:00:00Z</dcterms:created>
  <dcterms:modified xsi:type="dcterms:W3CDTF">2025-04-08T19:37:37Z</dcterms:modified>
  <dc:identifier>DAGi9vbU4Ao</dc:identifier>
</cp:coreProperties>
</file>